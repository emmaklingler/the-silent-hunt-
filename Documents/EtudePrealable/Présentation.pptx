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Play"/>
      <p:regular r:id="rId32"/>
      <p:bold r:id="rId33"/>
    </p:embeddedFont>
    <p:embeddedFont>
      <p:font typeface="Roboto Mon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gC6HTHlWGcKHdzuhf89NiVENMD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479B61-E4F1-44F4-BD2B-CA1E4937A64C}">
  <a:tblStyle styleId="{6B479B61-E4F1-44F4-BD2B-CA1E4937A64C}"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lay-bold.fntdata"/><Relationship Id="rId10" Type="http://schemas.openxmlformats.org/officeDocument/2006/relationships/slide" Target="slides/slide5.xml"/><Relationship Id="rId32" Type="http://schemas.openxmlformats.org/officeDocument/2006/relationships/font" Target="fonts/Play-regular.fntdata"/><Relationship Id="rId13" Type="http://schemas.openxmlformats.org/officeDocument/2006/relationships/slide" Target="slides/slide8.xml"/><Relationship Id="rId35" Type="http://schemas.openxmlformats.org/officeDocument/2006/relationships/font" Target="fonts/RobotoMono-bold.fntdata"/><Relationship Id="rId12" Type="http://schemas.openxmlformats.org/officeDocument/2006/relationships/slide" Target="slides/slide7.xml"/><Relationship Id="rId34" Type="http://schemas.openxmlformats.org/officeDocument/2006/relationships/font" Target="fonts/RobotoMono-regular.fntdata"/><Relationship Id="rId15" Type="http://schemas.openxmlformats.org/officeDocument/2006/relationships/slide" Target="slides/slide10.xml"/><Relationship Id="rId37" Type="http://schemas.openxmlformats.org/officeDocument/2006/relationships/font" Target="fonts/RobotoMono-boldItalic.fntdata"/><Relationship Id="rId14" Type="http://schemas.openxmlformats.org/officeDocument/2006/relationships/slide" Target="slides/slide9.xml"/><Relationship Id="rId36" Type="http://schemas.openxmlformats.org/officeDocument/2006/relationships/font" Target="fonts/RobotoMono-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c7962d81b2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c7962d81b2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i="1" lang="fr-FR" sz="1100"/>
              <a:t>Cette itération avait pour objectif de consolider l’intelligence du jeu.</a:t>
            </a:r>
            <a:endParaRPr i="1" sz="1100"/>
          </a:p>
          <a:p>
            <a:pPr indent="0" lvl="0" marL="0" rtl="0" algn="l">
              <a:spcBef>
                <a:spcPts val="0"/>
              </a:spcBef>
              <a:spcAft>
                <a:spcPts val="0"/>
              </a:spcAft>
              <a:buClr>
                <a:schemeClr val="dk1"/>
              </a:buClr>
              <a:buSzPts val="1100"/>
              <a:buFont typeface="Arial"/>
              <a:buNone/>
            </a:pPr>
            <a:r>
              <a:rPr i="1" lang="fr-FR" sz="1100"/>
              <a:t>Nous avons finalisé les interactions environnementales comme les terriers et les cachettes, puis structuré le comportement du lapin via un Behavior Tree.</a:t>
            </a:r>
            <a:endParaRPr i="1" sz="1100"/>
          </a:p>
          <a:p>
            <a:pPr indent="0" lvl="0" marL="0" rtl="0" algn="l">
              <a:spcBef>
                <a:spcPts val="0"/>
              </a:spcBef>
              <a:spcAft>
                <a:spcPts val="0"/>
              </a:spcAft>
              <a:buNone/>
            </a:pPr>
            <a:r>
              <a:rPr i="1" lang="fr-FR" sz="1100"/>
              <a:t>En parallèle, nous avons mis en place une phase de tests afin de valider la cohérence des comportements, notamment pour le lapin et le chasseur.</a:t>
            </a:r>
            <a:endParaRPr i="1" sz="1100"/>
          </a:p>
        </p:txBody>
      </p:sp>
      <p:sp>
        <p:nvSpPr>
          <p:cNvPr id="147" name="Google Shape;147;g3c7962d81b2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c7bd57e04d_3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c7bd57e04d_3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71400"/>
              </a:lnSpc>
              <a:spcBef>
                <a:spcPts val="900"/>
              </a:spcBef>
              <a:spcAft>
                <a:spcPts val="0"/>
              </a:spcAft>
              <a:buClr>
                <a:schemeClr val="dk1"/>
              </a:buClr>
              <a:buSzPts val="1100"/>
              <a:buFont typeface="Arial"/>
              <a:buNone/>
            </a:pPr>
            <a:r>
              <a:rPr lang="fr-FR" sz="1100">
                <a:solidFill>
                  <a:srgbClr val="CECFD2"/>
                </a:solidFill>
                <a:highlight>
                  <a:srgbClr val="242528"/>
                </a:highlight>
              </a:rPr>
              <a:t>il y a l'entrée du terrier, quand on interagie avec, le joueur est téléporté sous terre, ou ce trouve le terrier en lui meme, une petite maison pour lapin très joli, ou le joueurs est à l'abri du chasseur MAIS la faim diminue 3x plus vite</a:t>
            </a:r>
            <a:endParaRPr sz="1100">
              <a:solidFill>
                <a:srgbClr val="CECFD2"/>
              </a:solidFill>
              <a:highlight>
                <a:srgbClr val="242528"/>
              </a:highlight>
            </a:endParaRPr>
          </a:p>
          <a:p>
            <a:pPr indent="0" lvl="0" marL="0" rtl="0" algn="l">
              <a:lnSpc>
                <a:spcPct val="171400"/>
              </a:lnSpc>
              <a:spcBef>
                <a:spcPts val="900"/>
              </a:spcBef>
              <a:spcAft>
                <a:spcPts val="0"/>
              </a:spcAft>
              <a:buNone/>
            </a:pPr>
            <a:r>
              <a:rPr lang="fr-FR" sz="1100">
                <a:solidFill>
                  <a:srgbClr val="CECFD2"/>
                </a:solidFill>
                <a:highlight>
                  <a:srgbClr val="242528"/>
                </a:highlight>
              </a:rPr>
              <a:t>Dans le terrier, plusieurs porte pour pouvoir aller dans d'autre terrier, et donc se déplacer très rapidement dans la carte, mais chaque déplacement consomme de la nourriture (afficher quand le joueur peu interagir avec la porte), donc un joueur avec une barre de faim faible ne peut pas se déplacer de terrier en terrier.</a:t>
            </a:r>
            <a:endParaRPr sz="1100"/>
          </a:p>
        </p:txBody>
      </p:sp>
      <p:sp>
        <p:nvSpPr>
          <p:cNvPr id="156" name="Google Shape;156;g3c7bd57e04d_3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9befa48d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9befa48df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71400"/>
              </a:lnSpc>
              <a:spcBef>
                <a:spcPts val="900"/>
              </a:spcBef>
              <a:spcAft>
                <a:spcPts val="0"/>
              </a:spcAft>
              <a:buClr>
                <a:schemeClr val="dk1"/>
              </a:buClr>
              <a:buSzPts val="1100"/>
              <a:buFont typeface="Arial"/>
              <a:buNone/>
            </a:pPr>
            <a:r>
              <a:rPr lang="fr-FR" sz="1100">
                <a:solidFill>
                  <a:srgbClr val="CECFD2"/>
                </a:solidFill>
                <a:highlight>
                  <a:srgbClr val="242528"/>
                </a:highlight>
              </a:rPr>
              <a:t>il y a l'entrée du terrier, quand on interagie avec, le joueur est téléporté sous terre, ou ce trouve le terrier en lui meme, une petite maison pour lapin très joli, ou le joueurs est à l'abri du chasseur MAIS la faim diminue 3x plus vite</a:t>
            </a:r>
            <a:endParaRPr sz="1100">
              <a:solidFill>
                <a:srgbClr val="CECFD2"/>
              </a:solidFill>
              <a:highlight>
                <a:srgbClr val="242528"/>
              </a:highlight>
            </a:endParaRPr>
          </a:p>
          <a:p>
            <a:pPr indent="0" lvl="0" marL="0" rtl="0" algn="l">
              <a:lnSpc>
                <a:spcPct val="171400"/>
              </a:lnSpc>
              <a:spcBef>
                <a:spcPts val="900"/>
              </a:spcBef>
              <a:spcAft>
                <a:spcPts val="0"/>
              </a:spcAft>
              <a:buNone/>
            </a:pPr>
            <a:r>
              <a:rPr lang="fr-FR" sz="1100">
                <a:solidFill>
                  <a:srgbClr val="CECFD2"/>
                </a:solidFill>
                <a:highlight>
                  <a:srgbClr val="242528"/>
                </a:highlight>
              </a:rPr>
              <a:t>Dans le terrier, plusieurs porte pour pouvoir aller dans d'autre terrier, et donc se déplacer très rapidement dans la carte, mais chaque déplacement consomme de la nourriture (afficher quand le joueur peu interagir avec la porte), donc un joueur avec une barre de faim faible ne peut pas se déplacer de terrier en terrier.</a:t>
            </a:r>
            <a:endParaRPr sz="1100"/>
          </a:p>
        </p:txBody>
      </p:sp>
      <p:sp>
        <p:nvSpPr>
          <p:cNvPr id="171" name="Google Shape;171;g3c9befa48df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93084ca21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c93084ca21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3c93084ca21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91ace5969_2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c91ace5969_2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3c91ace5969_2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91ace5969_2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c91ace5969_2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71400"/>
              </a:lnSpc>
              <a:spcBef>
                <a:spcPts val="900"/>
              </a:spcBef>
              <a:spcAft>
                <a:spcPts val="0"/>
              </a:spcAft>
              <a:buNone/>
            </a:pPr>
            <a:r>
              <a:rPr lang="fr-FR" sz="1100">
                <a:solidFill>
                  <a:srgbClr val="CECFD2"/>
                </a:solidFill>
                <a:highlight>
                  <a:srgbClr val="242528"/>
                </a:highlight>
              </a:rPr>
              <a:t>il y a l'entrée du terrier, quand on interagie avec, le joueur est téléporté sous terre, ou ce trouve le terrier en lui meme, une petite maison pour lapin très joli, ou le joueurs est à l'abri du chasseur MAIS la faim diminue 3x plus vite</a:t>
            </a:r>
            <a:endParaRPr sz="1100">
              <a:solidFill>
                <a:srgbClr val="CECFD2"/>
              </a:solidFill>
              <a:highlight>
                <a:srgbClr val="242528"/>
              </a:highlight>
            </a:endParaRPr>
          </a:p>
          <a:p>
            <a:pPr indent="0" lvl="0" marL="0" rtl="0" algn="l">
              <a:lnSpc>
                <a:spcPct val="171400"/>
              </a:lnSpc>
              <a:spcBef>
                <a:spcPts val="900"/>
              </a:spcBef>
              <a:spcAft>
                <a:spcPts val="0"/>
              </a:spcAft>
              <a:buNone/>
            </a:pPr>
            <a:r>
              <a:rPr lang="fr-FR" sz="1100">
                <a:solidFill>
                  <a:srgbClr val="CECFD2"/>
                </a:solidFill>
                <a:highlight>
                  <a:srgbClr val="242528"/>
                </a:highlight>
              </a:rPr>
              <a:t>Dans le terrier, plusieurs porte pour pouvoir aller dans d'autre terrier, et donc se déplacer très rapidement dans la carte, mais chaque déplacement consomme de la nourriture (afficher quand le joueur peu interagir avec la porte), donc un joueur avec une barre de faim faible ne peut pas se déplacer de terrier en terrier.</a:t>
            </a:r>
            <a:endParaRPr sz="1100"/>
          </a:p>
        </p:txBody>
      </p:sp>
      <p:sp>
        <p:nvSpPr>
          <p:cNvPr id="196" name="Google Shape;196;g3c91ace5969_2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c9c09ffa22_1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c9c09ffa22_1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71400"/>
              </a:lnSpc>
              <a:spcBef>
                <a:spcPts val="900"/>
              </a:spcBef>
              <a:spcAft>
                <a:spcPts val="0"/>
              </a:spcAft>
              <a:buNone/>
            </a:pPr>
            <a:r>
              <a:rPr lang="fr-FR" sz="1100">
                <a:solidFill>
                  <a:srgbClr val="CECFD2"/>
                </a:solidFill>
                <a:highlight>
                  <a:srgbClr val="242528"/>
                </a:highlight>
              </a:rPr>
              <a:t>il y a l'entrée du terrier, quand on interagie avec, le joueur est téléporté sous terre, ou ce trouve le terrier en lui meme, une petite maison pour lapin très joli, ou le joueurs est à l'abri du chasseur MAIS la faim diminue 3x plus vite</a:t>
            </a:r>
            <a:endParaRPr sz="1100">
              <a:solidFill>
                <a:srgbClr val="CECFD2"/>
              </a:solidFill>
              <a:highlight>
                <a:srgbClr val="242528"/>
              </a:highlight>
            </a:endParaRPr>
          </a:p>
          <a:p>
            <a:pPr indent="0" lvl="0" marL="0" rtl="0" algn="l">
              <a:lnSpc>
                <a:spcPct val="171400"/>
              </a:lnSpc>
              <a:spcBef>
                <a:spcPts val="900"/>
              </a:spcBef>
              <a:spcAft>
                <a:spcPts val="0"/>
              </a:spcAft>
              <a:buNone/>
            </a:pPr>
            <a:r>
              <a:rPr lang="fr-FR" sz="1100">
                <a:solidFill>
                  <a:srgbClr val="CECFD2"/>
                </a:solidFill>
                <a:highlight>
                  <a:srgbClr val="242528"/>
                </a:highlight>
              </a:rPr>
              <a:t>Dans le terrier, plusieurs porte pour pouvoir aller dans d'autre terrier, et donc se déplacer très rapidement dans la carte, mais chaque déplacement consomme de la nourriture (afficher quand le joueur peu interagir avec la porte), donc un joueur avec une barre de faim faible ne peut pas se déplacer de terrier en terrier.</a:t>
            </a:r>
            <a:endParaRPr sz="1100"/>
          </a:p>
        </p:txBody>
      </p:sp>
      <p:sp>
        <p:nvSpPr>
          <p:cNvPr id="209" name="Google Shape;209;g3c9c09ffa22_1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c7bd57e04d_3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c7bd57e04d_3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fr-FR" sz="1100"/>
              <a:t>Silent Hunt repose sur une architecture </a:t>
            </a:r>
            <a:r>
              <a:rPr b="1" lang="fr-FR" sz="1100"/>
              <a:t>Client / Serveur centralisée</a:t>
            </a:r>
            <a:r>
              <a:rPr lang="fr-FR" sz="1100"/>
              <a:t>.</a:t>
            </a:r>
            <a:endParaRPr sz="1100"/>
          </a:p>
          <a:p>
            <a:pPr indent="0" lvl="0" marL="0" rtl="0" algn="l">
              <a:lnSpc>
                <a:spcPct val="115000"/>
              </a:lnSpc>
              <a:spcBef>
                <a:spcPts val="1400"/>
              </a:spcBef>
              <a:spcAft>
                <a:spcPts val="0"/>
              </a:spcAft>
              <a:buClr>
                <a:schemeClr val="dk1"/>
              </a:buClr>
              <a:buSzPts val="1100"/>
              <a:buFont typeface="Arial"/>
              <a:buNone/>
            </a:pPr>
            <a:r>
              <a:rPr b="1" lang="fr-FR" sz="1300"/>
              <a:t>Principe :</a:t>
            </a:r>
            <a:endParaRPr b="1" sz="1300"/>
          </a:p>
          <a:p>
            <a:pPr indent="-298450" lvl="0" marL="457200" rtl="0" algn="l">
              <a:lnSpc>
                <a:spcPct val="115000"/>
              </a:lnSpc>
              <a:spcBef>
                <a:spcPts val="1200"/>
              </a:spcBef>
              <a:spcAft>
                <a:spcPts val="0"/>
              </a:spcAft>
              <a:buClr>
                <a:schemeClr val="dk1"/>
              </a:buClr>
              <a:buSzPts val="1100"/>
              <a:buChar char="●"/>
            </a:pPr>
            <a:r>
              <a:rPr lang="fr-FR" sz="1100"/>
              <a:t>Le </a:t>
            </a:r>
            <a:r>
              <a:rPr b="1" lang="fr-FR" sz="1100"/>
              <a:t>Serveur</a:t>
            </a:r>
            <a:r>
              <a:rPr lang="fr-FR" sz="1100"/>
              <a:t> contrôle la logique importante</a:t>
            </a:r>
            <a:endParaRPr sz="1100"/>
          </a:p>
          <a:p>
            <a:pPr indent="-298450" lvl="0" marL="457200" rtl="0" algn="l">
              <a:lnSpc>
                <a:spcPct val="115000"/>
              </a:lnSpc>
              <a:spcBef>
                <a:spcPts val="0"/>
              </a:spcBef>
              <a:spcAft>
                <a:spcPts val="0"/>
              </a:spcAft>
              <a:buClr>
                <a:schemeClr val="dk1"/>
              </a:buClr>
              <a:buSzPts val="1100"/>
              <a:buChar char="●"/>
            </a:pPr>
            <a:r>
              <a:rPr lang="fr-FR" sz="1100"/>
              <a:t>Le </a:t>
            </a:r>
            <a:r>
              <a:rPr b="1" lang="fr-FR" sz="1100"/>
              <a:t>Client</a:t>
            </a:r>
            <a:r>
              <a:rPr lang="fr-FR" sz="1100"/>
              <a:t> gère l’affichage et l’expérience utilisateur</a:t>
            </a:r>
            <a:endParaRPr sz="1100"/>
          </a:p>
          <a:p>
            <a:pPr indent="-298450" lvl="0" marL="457200" rtl="0" algn="l">
              <a:lnSpc>
                <a:spcPct val="115000"/>
              </a:lnSpc>
              <a:spcBef>
                <a:spcPts val="0"/>
              </a:spcBef>
              <a:spcAft>
                <a:spcPts val="0"/>
              </a:spcAft>
              <a:buClr>
                <a:schemeClr val="dk1"/>
              </a:buClr>
              <a:buSzPts val="1100"/>
              <a:buChar char="●"/>
            </a:pPr>
            <a:r>
              <a:rPr lang="fr-FR" sz="1100"/>
              <a:t>Les données communes transitent via </a:t>
            </a:r>
            <a:r>
              <a:rPr b="1" lang="fr-FR" sz="1100"/>
              <a:t>ReplicatedStorage</a:t>
            </a:r>
            <a:endParaRPr b="1" sz="1100"/>
          </a:p>
          <a:p>
            <a:pPr indent="0" lvl="0" marL="0" rtl="0" algn="l">
              <a:spcBef>
                <a:spcPts val="1200"/>
              </a:spcBef>
              <a:spcAft>
                <a:spcPts val="0"/>
              </a:spcAft>
              <a:buNone/>
            </a:pPr>
            <a:r>
              <a:rPr lang="fr-FR"/>
              <a:t>Roblox n’est qu’un outils on doit gérer nous mêmes les échanges serveur client donc il faut être rigoureux et bien vérifier les données qui viennent du clients</a:t>
            </a:r>
            <a:endParaRPr/>
          </a:p>
        </p:txBody>
      </p:sp>
      <p:sp>
        <p:nvSpPr>
          <p:cNvPr id="220" name="Google Shape;220;g3c7bd57e04d_3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c91ace5969_2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c91ace5969_2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fr-FR" sz="1100"/>
              <a:t>Silent Hunt repose sur une architecture </a:t>
            </a:r>
            <a:r>
              <a:rPr b="1" lang="fr-FR" sz="1100"/>
              <a:t>Client / Serveur centralisée</a:t>
            </a:r>
            <a:r>
              <a:rPr lang="fr-FR" sz="1100"/>
              <a:t>.</a:t>
            </a:r>
            <a:endParaRPr sz="1100"/>
          </a:p>
          <a:p>
            <a:pPr indent="0" lvl="0" marL="0" rtl="0" algn="l">
              <a:lnSpc>
                <a:spcPct val="115000"/>
              </a:lnSpc>
              <a:spcBef>
                <a:spcPts val="1400"/>
              </a:spcBef>
              <a:spcAft>
                <a:spcPts val="0"/>
              </a:spcAft>
              <a:buClr>
                <a:schemeClr val="dk1"/>
              </a:buClr>
              <a:buSzPts val="1100"/>
              <a:buFont typeface="Arial"/>
              <a:buNone/>
            </a:pPr>
            <a:r>
              <a:rPr b="1" lang="fr-FR" sz="1300"/>
              <a:t>Principe :</a:t>
            </a:r>
            <a:endParaRPr b="1" sz="1300"/>
          </a:p>
          <a:p>
            <a:pPr indent="-298450" lvl="0" marL="457200" rtl="0" algn="l">
              <a:lnSpc>
                <a:spcPct val="115000"/>
              </a:lnSpc>
              <a:spcBef>
                <a:spcPts val="1200"/>
              </a:spcBef>
              <a:spcAft>
                <a:spcPts val="0"/>
              </a:spcAft>
              <a:buClr>
                <a:schemeClr val="dk1"/>
              </a:buClr>
              <a:buSzPts val="1100"/>
              <a:buChar char="●"/>
            </a:pPr>
            <a:r>
              <a:rPr lang="fr-FR" sz="1100"/>
              <a:t>Le </a:t>
            </a:r>
            <a:r>
              <a:rPr b="1" lang="fr-FR" sz="1100"/>
              <a:t>Serveur</a:t>
            </a:r>
            <a:r>
              <a:rPr lang="fr-FR" sz="1100"/>
              <a:t> contrôle la logique importante</a:t>
            </a:r>
            <a:endParaRPr sz="1100"/>
          </a:p>
          <a:p>
            <a:pPr indent="-298450" lvl="0" marL="457200" rtl="0" algn="l">
              <a:lnSpc>
                <a:spcPct val="115000"/>
              </a:lnSpc>
              <a:spcBef>
                <a:spcPts val="0"/>
              </a:spcBef>
              <a:spcAft>
                <a:spcPts val="0"/>
              </a:spcAft>
              <a:buClr>
                <a:schemeClr val="dk1"/>
              </a:buClr>
              <a:buSzPts val="1100"/>
              <a:buChar char="●"/>
            </a:pPr>
            <a:r>
              <a:rPr lang="fr-FR" sz="1100"/>
              <a:t>Le </a:t>
            </a:r>
            <a:r>
              <a:rPr b="1" lang="fr-FR" sz="1100"/>
              <a:t>Client</a:t>
            </a:r>
            <a:r>
              <a:rPr lang="fr-FR" sz="1100"/>
              <a:t> gère l’affichage et l’expérience utilisateur</a:t>
            </a:r>
            <a:endParaRPr sz="1100"/>
          </a:p>
          <a:p>
            <a:pPr indent="-298450" lvl="0" marL="457200" rtl="0" algn="l">
              <a:lnSpc>
                <a:spcPct val="115000"/>
              </a:lnSpc>
              <a:spcBef>
                <a:spcPts val="0"/>
              </a:spcBef>
              <a:spcAft>
                <a:spcPts val="0"/>
              </a:spcAft>
              <a:buClr>
                <a:schemeClr val="dk1"/>
              </a:buClr>
              <a:buSzPts val="1100"/>
              <a:buChar char="●"/>
            </a:pPr>
            <a:r>
              <a:rPr lang="fr-FR" sz="1100"/>
              <a:t>Les données communes transitent via </a:t>
            </a:r>
            <a:r>
              <a:rPr b="1" lang="fr-FR" sz="1100"/>
              <a:t>ReplicatedStorage</a:t>
            </a:r>
            <a:endParaRPr b="1" sz="1100"/>
          </a:p>
          <a:p>
            <a:pPr indent="0" lvl="0" marL="0" rtl="0" algn="l">
              <a:spcBef>
                <a:spcPts val="1200"/>
              </a:spcBef>
              <a:spcAft>
                <a:spcPts val="0"/>
              </a:spcAft>
              <a:buNone/>
            </a:pPr>
            <a:r>
              <a:rPr lang="fr-FR"/>
              <a:t>Roblox n’est qu’un outils on doit gérer nous mêmes les échanges serveur client donc il faut être rigoureux et bien vérifier les données qui viennent du clients</a:t>
            </a:r>
            <a:endParaRPr/>
          </a:p>
        </p:txBody>
      </p:sp>
      <p:sp>
        <p:nvSpPr>
          <p:cNvPr id="234" name="Google Shape;234;g3c91ace5969_2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c91ace5969_2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c91ace5969_2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g3c91ace5969_2_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fr-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c91ace5969_2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c91ace5969_2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3c91ace5969_2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c91ace5969_2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c91ace5969_2_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g3c91ace5969_2_7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c91ace5969_2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c91ace5969_2_1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fr-FR" sz="1100"/>
              <a:t>Silent Hunt repose sur une architecture </a:t>
            </a:r>
            <a:r>
              <a:rPr b="1" lang="fr-FR" sz="1100"/>
              <a:t>Client / Serveur centralisée</a:t>
            </a:r>
            <a:r>
              <a:rPr lang="fr-FR" sz="1100"/>
              <a:t>.</a:t>
            </a:r>
            <a:endParaRPr sz="1100"/>
          </a:p>
          <a:p>
            <a:pPr indent="0" lvl="0" marL="0" rtl="0" algn="l">
              <a:lnSpc>
                <a:spcPct val="115000"/>
              </a:lnSpc>
              <a:spcBef>
                <a:spcPts val="1400"/>
              </a:spcBef>
              <a:spcAft>
                <a:spcPts val="0"/>
              </a:spcAft>
              <a:buClr>
                <a:schemeClr val="dk1"/>
              </a:buClr>
              <a:buSzPts val="1100"/>
              <a:buFont typeface="Arial"/>
              <a:buNone/>
            </a:pPr>
            <a:r>
              <a:rPr b="1" lang="fr-FR" sz="1300"/>
              <a:t>Principe :</a:t>
            </a:r>
            <a:endParaRPr b="1" sz="1300"/>
          </a:p>
          <a:p>
            <a:pPr indent="-298450" lvl="0" marL="457200" rtl="0" algn="l">
              <a:lnSpc>
                <a:spcPct val="115000"/>
              </a:lnSpc>
              <a:spcBef>
                <a:spcPts val="1200"/>
              </a:spcBef>
              <a:spcAft>
                <a:spcPts val="0"/>
              </a:spcAft>
              <a:buClr>
                <a:schemeClr val="dk1"/>
              </a:buClr>
              <a:buSzPts val="1100"/>
              <a:buChar char="●"/>
            </a:pPr>
            <a:r>
              <a:rPr lang="fr-FR" sz="1100"/>
              <a:t>Le </a:t>
            </a:r>
            <a:r>
              <a:rPr b="1" lang="fr-FR" sz="1100"/>
              <a:t>Serveur</a:t>
            </a:r>
            <a:r>
              <a:rPr lang="fr-FR" sz="1100"/>
              <a:t> contrôle la logique importante</a:t>
            </a:r>
            <a:endParaRPr sz="1100"/>
          </a:p>
          <a:p>
            <a:pPr indent="-298450" lvl="0" marL="457200" rtl="0" algn="l">
              <a:lnSpc>
                <a:spcPct val="115000"/>
              </a:lnSpc>
              <a:spcBef>
                <a:spcPts val="0"/>
              </a:spcBef>
              <a:spcAft>
                <a:spcPts val="0"/>
              </a:spcAft>
              <a:buClr>
                <a:schemeClr val="dk1"/>
              </a:buClr>
              <a:buSzPts val="1100"/>
              <a:buChar char="●"/>
            </a:pPr>
            <a:r>
              <a:rPr lang="fr-FR" sz="1100"/>
              <a:t>Le </a:t>
            </a:r>
            <a:r>
              <a:rPr b="1" lang="fr-FR" sz="1100"/>
              <a:t>Client</a:t>
            </a:r>
            <a:r>
              <a:rPr lang="fr-FR" sz="1100"/>
              <a:t> gère l’affichage et l’expérience utilisateur</a:t>
            </a:r>
            <a:endParaRPr sz="1100"/>
          </a:p>
          <a:p>
            <a:pPr indent="-298450" lvl="0" marL="457200" rtl="0" algn="l">
              <a:lnSpc>
                <a:spcPct val="115000"/>
              </a:lnSpc>
              <a:spcBef>
                <a:spcPts val="0"/>
              </a:spcBef>
              <a:spcAft>
                <a:spcPts val="0"/>
              </a:spcAft>
              <a:buClr>
                <a:schemeClr val="dk1"/>
              </a:buClr>
              <a:buSzPts val="1100"/>
              <a:buChar char="●"/>
            </a:pPr>
            <a:r>
              <a:rPr lang="fr-FR" sz="1100"/>
              <a:t>Les données communes transitent via </a:t>
            </a:r>
            <a:r>
              <a:rPr b="1" lang="fr-FR" sz="1100"/>
              <a:t>ReplicatedStorage</a:t>
            </a:r>
            <a:endParaRPr b="1" sz="1100"/>
          </a:p>
          <a:p>
            <a:pPr indent="0" lvl="0" marL="0" rtl="0" algn="l">
              <a:spcBef>
                <a:spcPts val="1200"/>
              </a:spcBef>
              <a:spcAft>
                <a:spcPts val="0"/>
              </a:spcAft>
              <a:buNone/>
            </a:pPr>
            <a:r>
              <a:rPr lang="fr-FR"/>
              <a:t>Roblox n’est qu’un outils on doit gérer nous mêmes les échanges serveur client donc il faut être rigoureux et bien vérifier les données qui viennent du clients</a:t>
            </a:r>
            <a:endParaRPr/>
          </a:p>
        </p:txBody>
      </p:sp>
      <p:sp>
        <p:nvSpPr>
          <p:cNvPr id="269" name="Google Shape;269;g3c91ace5969_2_1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c91ace5969_2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c91ace5969_2_10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c91ace5969_2_10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c91ace5969_2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c91ace5969_2_1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c91ace5969_2_1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91ace5969_2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c91ace5969_2_1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g3c91ace5969_2_1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c93084ca21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c93084ca21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g3c93084ca21_0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c7bd57e04d_3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c7bd57e04d_3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fr-FR"/>
              <a:t>Nous avons mis en place des tests unitaires directement dans Roblox Studio afin de valider chaque nœud du Behavior Tree indépendamment.</a:t>
            </a:r>
            <a:endParaRPr/>
          </a:p>
          <a:p>
            <a:pPr indent="0" lvl="0" marL="0" rtl="0" algn="l">
              <a:spcBef>
                <a:spcPts val="0"/>
              </a:spcBef>
              <a:spcAft>
                <a:spcPts val="0"/>
              </a:spcAft>
              <a:buClr>
                <a:schemeClr val="dk1"/>
              </a:buClr>
              <a:buSzPts val="1100"/>
              <a:buFont typeface="Arial"/>
              <a:buNone/>
            </a:pPr>
            <a:r>
              <a:rPr lang="fr-FR"/>
              <a:t>Pour cela, nous avons utilisé des objets simulés — un Fake Hunter et un Fake Blackboard — afin d’isoler les comportements.</a:t>
            </a:r>
            <a:endParaRPr/>
          </a:p>
          <a:p>
            <a:pPr indent="0" lvl="0" marL="0" rtl="0" algn="l">
              <a:spcBef>
                <a:spcPts val="0"/>
              </a:spcBef>
              <a:spcAft>
                <a:spcPts val="0"/>
              </a:spcAft>
              <a:buClr>
                <a:schemeClr val="dk1"/>
              </a:buClr>
              <a:buSzPts val="1100"/>
              <a:buFont typeface="Arial"/>
              <a:buNone/>
            </a:pPr>
            <a:r>
              <a:rPr lang="fr-FR"/>
              <a:t>Chaque ActionNode est testé en vérifiant le retour de statut : SUCCESS, FAILURE ou RUNNING.</a:t>
            </a:r>
            <a:endParaRPr/>
          </a:p>
          <a:p>
            <a:pPr indent="0" lvl="0" marL="0" rtl="0" algn="l">
              <a:spcBef>
                <a:spcPts val="0"/>
              </a:spcBef>
              <a:spcAft>
                <a:spcPts val="0"/>
              </a:spcAft>
              <a:buNone/>
            </a:pPr>
            <a:r>
              <a:rPr lang="fr-FR"/>
              <a:t>Nous avons également testé les comportements internes du lapin, comme la gestion de la satiety, ainsi que la perception et le calcul des poids pour l’Utility.</a:t>
            </a:r>
            <a:br>
              <a:rPr lang="fr-FR"/>
            </a:br>
            <a:br>
              <a:rPr lang="fr-FR"/>
            </a:br>
            <a:br>
              <a:rPr lang="fr-FR"/>
            </a:br>
            <a:r>
              <a:rPr lang="fr-FR"/>
              <a:t>Cette approche nous permet de tester la logique décisionnelle indépendamment du moteur physique ou des animations.</a:t>
            </a:r>
            <a:br>
              <a:rPr lang="fr-FR"/>
            </a:br>
            <a:br>
              <a:rPr lang="fr-FR"/>
            </a:br>
            <a:br>
              <a:rPr lang="fr-FR"/>
            </a:br>
            <a:r>
              <a:rPr lang="fr-FR" sz="1100"/>
              <a:t>Chaque node est testé indépendamment avec un hunter et un blackboard simulés.</a:t>
            </a:r>
            <a:br>
              <a:rPr lang="fr-FR" sz="1100"/>
            </a:br>
            <a:r>
              <a:rPr lang="fr-FR" sz="1100"/>
              <a:t> L’objectif n’est pas de tester le gameplay, mais de valider la logique interne et les contrats entre composants.</a:t>
            </a:r>
            <a:endParaRPr sz="1100"/>
          </a:p>
          <a:p>
            <a:pPr indent="0" lvl="0" marL="0" rtl="0" algn="l">
              <a:lnSpc>
                <a:spcPct val="115000"/>
              </a:lnSpc>
              <a:spcBef>
                <a:spcPts val="0"/>
              </a:spcBef>
              <a:spcAft>
                <a:spcPts val="0"/>
              </a:spcAft>
              <a:buClr>
                <a:schemeClr val="dk1"/>
              </a:buClr>
              <a:buSzPts val="1100"/>
              <a:buFont typeface="Arial"/>
              <a:buNone/>
            </a:pPr>
            <a:r>
              <a:t/>
            </a:r>
            <a:endParaRPr sz="1100"/>
          </a:p>
          <a:p>
            <a:pPr indent="0" lvl="0" marL="0" rtl="0" algn="l">
              <a:lnSpc>
                <a:spcPct val="115000"/>
              </a:lnSpc>
              <a:spcBef>
                <a:spcPts val="1800"/>
              </a:spcBef>
              <a:spcAft>
                <a:spcPts val="0"/>
              </a:spcAft>
              <a:buClr>
                <a:schemeClr val="dk1"/>
              </a:buClr>
              <a:buSzPts val="1100"/>
              <a:buFont typeface="Arial"/>
              <a:buNone/>
            </a:pPr>
            <a:r>
              <a:rPr b="1" lang="fr-FR" sz="1700"/>
              <a:t>🧠 Ensuite tu expliques le principe</a:t>
            </a:r>
            <a:endParaRPr b="1" sz="1700"/>
          </a:p>
          <a:p>
            <a:pPr indent="0" lvl="0" marL="381000" marR="381000" rtl="0" algn="l">
              <a:lnSpc>
                <a:spcPct val="115000"/>
              </a:lnSpc>
              <a:spcBef>
                <a:spcPts val="1200"/>
              </a:spcBef>
              <a:spcAft>
                <a:spcPts val="0"/>
              </a:spcAft>
              <a:buNone/>
            </a:pPr>
            <a:r>
              <a:rPr lang="fr-FR" sz="1100"/>
              <a:t>J’ai créé un faux hunter avec des méthodes contrôlées comme TryAttackClose ou TryReloadWeapon.</a:t>
            </a:r>
            <a:br>
              <a:rPr lang="fr-FR" sz="1100"/>
            </a:br>
            <a:r>
              <a:rPr lang="fr-FR" sz="1100"/>
              <a:t> Cela me permet de forcer certains scénarios et vérifier que le node retourne le bon Status : SUCCESS, FAILURE ou RUNNING.</a:t>
            </a:r>
            <a:br>
              <a:rPr lang="fr-FR" sz="1100"/>
            </a:br>
            <a:br>
              <a:rPr lang="fr-FR" sz="1100"/>
            </a:br>
            <a:br>
              <a:rPr lang="fr-FR" sz="1100"/>
            </a:br>
            <a:r>
              <a:rPr lang="fr-FR" sz="1100"/>
              <a:t>Ce sont des tests unitaires, pas des tests d’intégration.</a:t>
            </a:r>
            <a:endParaRPr sz="1100"/>
          </a:p>
          <a:p>
            <a:pPr indent="0" lvl="0" marL="381000" marR="381000" rtl="0" algn="l">
              <a:lnSpc>
                <a:spcPct val="115000"/>
              </a:lnSpc>
              <a:spcBef>
                <a:spcPts val="1200"/>
              </a:spcBef>
              <a:spcAft>
                <a:spcPts val="0"/>
              </a:spcAft>
              <a:buNone/>
            </a:pPr>
            <a:r>
              <a:rPr lang="fr-FR" sz="1100"/>
              <a:t>Ils ne valident pas la physique Roblox ni le pathfinding, mais garantissent la cohérence logique du Behaviour Tree.</a:t>
            </a:r>
            <a:endParaRPr sz="1100"/>
          </a:p>
          <a:p>
            <a:pPr indent="0" lvl="0" marL="381000" marR="381000" rtl="0" algn="l">
              <a:lnSpc>
                <a:spcPct val="115000"/>
              </a:lnSpc>
              <a:spcBef>
                <a:spcPts val="1200"/>
              </a:spcBef>
              <a:spcAft>
                <a:spcPts val="0"/>
              </a:spcAft>
              <a:buNone/>
            </a:pPr>
            <a:r>
              <a:t/>
            </a:r>
            <a:endParaRPr sz="1100"/>
          </a:p>
          <a:p>
            <a:pPr indent="0" lvl="0" marL="381000" marR="381000" rtl="0" algn="l">
              <a:lnSpc>
                <a:spcPct val="115000"/>
              </a:lnSpc>
              <a:spcBef>
                <a:spcPts val="1200"/>
              </a:spcBef>
              <a:spcAft>
                <a:spcPts val="0"/>
              </a:spcAft>
              <a:buNone/>
            </a:pPr>
            <a:r>
              <a:t/>
            </a:r>
            <a:endParaRPr sz="1100"/>
          </a:p>
          <a:p>
            <a:pPr indent="0" lvl="0" marL="381000" marR="381000" rtl="0" algn="l">
              <a:lnSpc>
                <a:spcPct val="115000"/>
              </a:lnSpc>
              <a:spcBef>
                <a:spcPts val="1200"/>
              </a:spcBef>
              <a:spcAft>
                <a:spcPts val="0"/>
              </a:spcAft>
              <a:buClr>
                <a:schemeClr val="dk1"/>
              </a:buClr>
              <a:buSzPts val="1100"/>
              <a:buFont typeface="Arial"/>
              <a:buNone/>
            </a:pPr>
            <a:r>
              <a:t/>
            </a:r>
            <a:endParaRPr sz="1100"/>
          </a:p>
          <a:p>
            <a:pPr indent="0" lvl="0" marL="0" rtl="0" algn="l">
              <a:spcBef>
                <a:spcPts val="1200"/>
              </a:spcBef>
              <a:spcAft>
                <a:spcPts val="0"/>
              </a:spcAft>
              <a:buNone/>
            </a:pPr>
            <a:r>
              <a:t/>
            </a:r>
            <a:endParaRPr/>
          </a:p>
        </p:txBody>
      </p:sp>
      <p:sp>
        <p:nvSpPr>
          <p:cNvPr id="313" name="Google Shape;313;g3c7bd57e04d_3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c7bd57e04d_3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c7bd57e04d_3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fr-FR"/>
              <a:t>Un Behavior Tree est une structure arborescente utilisée pour organiser la prise de décision d’une intelligence artificielle.</a:t>
            </a:r>
            <a:endParaRPr/>
          </a:p>
          <a:p>
            <a:pPr indent="0" lvl="0" marL="0" rtl="0" algn="l">
              <a:spcBef>
                <a:spcPts val="0"/>
              </a:spcBef>
              <a:spcAft>
                <a:spcPts val="0"/>
              </a:spcAft>
              <a:buNone/>
            </a:pPr>
            <a:r>
              <a:rPr lang="fr-FR"/>
              <a:t>Il permet de définir des comportements hiérarchiques, modulaires et lisibles.</a:t>
            </a:r>
            <a:endParaRPr/>
          </a:p>
        </p:txBody>
      </p:sp>
      <p:sp>
        <p:nvSpPr>
          <p:cNvPr id="327" name="Google Shape;327;g3c7bd57e04d_3_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93dd43c62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93dd43c62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fr-FR"/>
              <a:t>introduction du LapinBot ne consistait pas simplement à ajouter un Behavior Tree.</a:t>
            </a:r>
            <a:endParaRPr/>
          </a:p>
          <a:p>
            <a:pPr indent="0" lvl="0" marL="0" rtl="0" algn="l">
              <a:lnSpc>
                <a:spcPct val="115000"/>
              </a:lnSpc>
              <a:spcBef>
                <a:spcPts val="1200"/>
              </a:spcBef>
              <a:spcAft>
                <a:spcPts val="0"/>
              </a:spcAft>
              <a:buClr>
                <a:schemeClr val="dk1"/>
              </a:buClr>
              <a:buSzPts val="1100"/>
              <a:buFont typeface="Arial"/>
              <a:buNone/>
            </a:pPr>
            <a:r>
              <a:rPr lang="fr-FR"/>
              <a:t>Nous avons dû créer une nouvelle classe dédiée afin de séparer le joueur humain du comportement autonome.</a:t>
            </a:r>
            <a:endParaRPr/>
          </a:p>
          <a:p>
            <a:pPr indent="0" lvl="0" marL="0" rtl="0" algn="l">
              <a:lnSpc>
                <a:spcPct val="115000"/>
              </a:lnSpc>
              <a:spcBef>
                <a:spcPts val="1200"/>
              </a:spcBef>
              <a:spcAft>
                <a:spcPts val="0"/>
              </a:spcAft>
              <a:buClr>
                <a:schemeClr val="dk1"/>
              </a:buClr>
              <a:buSzPts val="1100"/>
              <a:buFont typeface="Arial"/>
              <a:buNone/>
            </a:pPr>
            <a:r>
              <a:rPr lang="fr-FR"/>
              <a:t>Cela a impliqué une refactorisation des Nodes existants, notamment pour adapter leurs dépendances et leur logique d’exécution.</a:t>
            </a:r>
            <a:endParaRPr/>
          </a:p>
          <a:p>
            <a:pPr indent="0" lvl="0" marL="0" rtl="0" algn="l">
              <a:lnSpc>
                <a:spcPct val="115000"/>
              </a:lnSpc>
              <a:spcBef>
                <a:spcPts val="1200"/>
              </a:spcBef>
              <a:spcAft>
                <a:spcPts val="0"/>
              </a:spcAft>
              <a:buNone/>
            </a:pPr>
            <a:r>
              <a:rPr lang="fr-FR"/>
              <a:t>Nous avons également revu l’initialisation du Behavior Tree afin qu’il puisse fonctionner de manière autonome via le Blackboard.</a:t>
            </a:r>
            <a:br>
              <a:rPr lang="fr-FR"/>
            </a:br>
            <a:br>
              <a:rPr lang="fr-FR"/>
            </a:br>
            <a:br>
              <a:rPr lang="fr-FR"/>
            </a:br>
            <a:r>
              <a:rPr lang="fr-FR"/>
              <a:t>Chaque Node devait être vérifié pour s’assurer qu’il ne dépendait pas d’inputs joueurs, mais uniquement de l’état interne et du Blackboard.</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338" name="Google Shape;338;g393dd43c62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c7962d81b2_3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c7962d81b2_3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a:p>
        </p:txBody>
      </p:sp>
      <p:sp>
        <p:nvSpPr>
          <p:cNvPr id="348" name="Google Shape;348;g3c7962d81b2_3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Pour conclure, nous avons défini un concept de jeu clair et motivant : une expérience survival asynchrone où le joueur doit échapper à un chasseur contrôlé par une IA évolutive.</a:t>
            </a:r>
            <a:endParaRPr/>
          </a:p>
          <a:p>
            <a:pPr indent="0" lvl="0" marL="0" rtl="0" algn="l">
              <a:spcBef>
                <a:spcPts val="0"/>
              </a:spcBef>
              <a:spcAft>
                <a:spcPts val="0"/>
              </a:spcAft>
              <a:buNone/>
            </a:pPr>
            <a:r>
              <a:rPr lang="fr-FR"/>
              <a:t>Techniquement, nous voulons structurer l’IA avec un Behaviour Tree avant, dans les derniers sprints, d’introduire du machine learning.</a:t>
            </a:r>
            <a:br>
              <a:rPr lang="fr-FR"/>
            </a:br>
            <a:r>
              <a:rPr lang="fr-FR"/>
              <a:t>Nous avons déjà pensé l’architecture pour assurer modularité et organisation.</a:t>
            </a:r>
            <a:endParaRPr/>
          </a:p>
          <a:p>
            <a:pPr indent="0" lvl="0" marL="0" rtl="0" algn="l">
              <a:spcBef>
                <a:spcPts val="0"/>
              </a:spcBef>
              <a:spcAft>
                <a:spcPts val="0"/>
              </a:spcAft>
              <a:buNone/>
            </a:pPr>
            <a:r>
              <a:rPr lang="fr-FR"/>
              <a:t>Le projet est découpé en 6 itérations, avec un cœur jouable assez tôt puis un enrichissement progressif.</a:t>
            </a:r>
            <a:br>
              <a:rPr lang="fr-FR"/>
            </a:br>
            <a:r>
              <a:rPr lang="fr-FR"/>
              <a:t>Nous avons identifié les risques principaux — IA trop forte, dérive de scope, gameplay mal équilibré — et prévu des stratégies pour les maîtriser.</a:t>
            </a:r>
            <a:endParaRPr/>
          </a:p>
          <a:p>
            <a:pPr indent="0" lvl="0" marL="0" rtl="0" algn="l">
              <a:spcBef>
                <a:spcPts val="0"/>
              </a:spcBef>
              <a:spcAft>
                <a:spcPts val="0"/>
              </a:spcAft>
              <a:buNone/>
            </a:pPr>
            <a:r>
              <a:rPr lang="fr-FR"/>
              <a:t>Les prochaines étapes sont de prioriser les cas d’utilisation et détailler le backlog.</a:t>
            </a:r>
            <a:endParaRPr/>
          </a:p>
          <a:p>
            <a:pPr indent="0" lvl="0" marL="0" rtl="0" algn="l">
              <a:spcBef>
                <a:spcPts val="0"/>
              </a:spcBef>
              <a:spcAft>
                <a:spcPts val="0"/>
              </a:spcAft>
              <a:buNone/>
            </a:pPr>
            <a:r>
              <a:t/>
            </a:r>
            <a:endParaRPr/>
          </a:p>
        </p:txBody>
      </p:sp>
      <p:sp>
        <p:nvSpPr>
          <p:cNvPr id="357" name="Google Shape;35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c93084ca21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g3c93084ca21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Pour conclure, nous avons défini un concept de jeu clair et motivant : une expérience survival asynchrone où le joueur doit échapper à un chasseur contrôlé par une IA évolutive.</a:t>
            </a:r>
            <a:endParaRPr/>
          </a:p>
          <a:p>
            <a:pPr indent="0" lvl="0" marL="0" rtl="0" algn="l">
              <a:spcBef>
                <a:spcPts val="0"/>
              </a:spcBef>
              <a:spcAft>
                <a:spcPts val="0"/>
              </a:spcAft>
              <a:buNone/>
            </a:pPr>
            <a:r>
              <a:rPr lang="fr-FR"/>
              <a:t>Techniquement, nous voulons structurer l’IA avec un Behaviour Tree avant, dans les derniers sprints, d’introduire du machine learning.</a:t>
            </a:r>
            <a:br>
              <a:rPr lang="fr-FR"/>
            </a:br>
            <a:r>
              <a:rPr lang="fr-FR"/>
              <a:t>Nous avons déjà pensé l’architecture pour assurer modularité et organisation.</a:t>
            </a:r>
            <a:endParaRPr/>
          </a:p>
          <a:p>
            <a:pPr indent="0" lvl="0" marL="0" rtl="0" algn="l">
              <a:spcBef>
                <a:spcPts val="0"/>
              </a:spcBef>
              <a:spcAft>
                <a:spcPts val="0"/>
              </a:spcAft>
              <a:buNone/>
            </a:pPr>
            <a:r>
              <a:rPr lang="fr-FR"/>
              <a:t>Le projet est découpé en 6 itérations, avec un cœur jouable assez tôt puis un enrichissement progressif.</a:t>
            </a:r>
            <a:br>
              <a:rPr lang="fr-FR"/>
            </a:br>
            <a:r>
              <a:rPr lang="fr-FR"/>
              <a:t>Nous avons identifié les risques principaux — IA trop forte, dérive de scope, gameplay mal équilibré — et prévu des stratégies pour les maîtriser.</a:t>
            </a:r>
            <a:endParaRPr/>
          </a:p>
          <a:p>
            <a:pPr indent="0" lvl="0" marL="0" rtl="0" algn="l">
              <a:spcBef>
                <a:spcPts val="0"/>
              </a:spcBef>
              <a:spcAft>
                <a:spcPts val="0"/>
              </a:spcAft>
              <a:buNone/>
            </a:pPr>
            <a:r>
              <a:rPr lang="fr-FR"/>
              <a:t>Les prochaines étapes sont de prioriser les cas d’utilisation et détailler le backlog.</a:t>
            </a:r>
            <a:endParaRPr/>
          </a:p>
          <a:p>
            <a:pPr indent="0" lvl="0" marL="0" rtl="0" algn="l">
              <a:spcBef>
                <a:spcPts val="0"/>
              </a:spcBef>
              <a:spcAft>
                <a:spcPts val="0"/>
              </a:spcAft>
              <a:buNone/>
            </a:pPr>
            <a:r>
              <a:t/>
            </a:r>
            <a:endParaRPr/>
          </a:p>
        </p:txBody>
      </p:sp>
      <p:sp>
        <p:nvSpPr>
          <p:cNvPr id="378" name="Google Shape;378;g3c93084ca21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54" name="Shape 54"/>
        <p:cNvGrpSpPr/>
        <p:nvPr/>
      </p:nvGrpSpPr>
      <p:grpSpPr>
        <a:xfrm>
          <a:off x="0" y="0"/>
          <a:ext cx="0" cy="0"/>
          <a:chOff x="0" y="0"/>
          <a:chExt cx="0" cy="0"/>
        </a:xfrm>
      </p:grpSpPr>
      <p:sp>
        <p:nvSpPr>
          <p:cNvPr id="55" name="Google Shape;5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8" name="Shape 58"/>
        <p:cNvGrpSpPr/>
        <p:nvPr/>
      </p:nvGrpSpPr>
      <p:grpSpPr>
        <a:xfrm>
          <a:off x="0" y="0"/>
          <a:ext cx="0" cy="0"/>
          <a:chOff x="0" y="0"/>
          <a:chExt cx="0" cy="0"/>
        </a:xfrm>
      </p:grpSpPr>
      <p:sp>
        <p:nvSpPr>
          <p:cNvPr id="59" name="Google Shape;59;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5" name="Shape 65"/>
        <p:cNvGrpSpPr/>
        <p:nvPr/>
      </p:nvGrpSpPr>
      <p:grpSpPr>
        <a:xfrm>
          <a:off x="0" y="0"/>
          <a:ext cx="0" cy="0"/>
          <a:chOff x="0" y="0"/>
          <a:chExt cx="0" cy="0"/>
        </a:xfrm>
      </p:grpSpPr>
      <p:sp>
        <p:nvSpPr>
          <p:cNvPr id="66" name="Google Shape;66;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3"/>
          <p:cNvSpPr/>
          <p:nvPr>
            <p:ph idx="2" type="pic"/>
          </p:nvPr>
        </p:nvSpPr>
        <p:spPr>
          <a:xfrm>
            <a:off x="5183188" y="987425"/>
            <a:ext cx="6172200" cy="4873625"/>
          </a:xfrm>
          <a:prstGeom prst="rect">
            <a:avLst/>
          </a:prstGeom>
          <a:noFill/>
          <a:ln>
            <a:noFill/>
          </a:ln>
        </p:spPr>
      </p:sp>
      <p:sp>
        <p:nvSpPr>
          <p:cNvPr id="68" name="Google Shape;68;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2" name="Shape 72"/>
        <p:cNvGrpSpPr/>
        <p:nvPr/>
      </p:nvGrpSpPr>
      <p:grpSpPr>
        <a:xfrm>
          <a:off x="0" y="0"/>
          <a:ext cx="0" cy="0"/>
          <a:chOff x="0" y="0"/>
          <a:chExt cx="0" cy="0"/>
        </a:xfrm>
      </p:grpSpPr>
      <p:sp>
        <p:nvSpPr>
          <p:cNvPr id="73" name="Google Shape;7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8" name="Shape 78"/>
        <p:cNvGrpSpPr/>
        <p:nvPr/>
      </p:nvGrpSpPr>
      <p:grpSpPr>
        <a:xfrm>
          <a:off x="0" y="0"/>
          <a:ext cx="0" cy="0"/>
          <a:chOff x="0" y="0"/>
          <a:chExt cx="0" cy="0"/>
        </a:xfrm>
      </p:grpSpPr>
      <p:sp>
        <p:nvSpPr>
          <p:cNvPr id="79" name="Google Shape;79;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p:nvPr/>
        </p:nvSpPr>
        <p:spPr>
          <a:xfrm>
            <a:off x="1444414" y="-123162"/>
            <a:ext cx="672900" cy="7104300"/>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0" name="Google Shape;90;p1"/>
          <p:cNvSpPr/>
          <p:nvPr/>
        </p:nvSpPr>
        <p:spPr>
          <a:xfrm>
            <a:off x="10458673" y="2994806"/>
            <a:ext cx="672860" cy="3955211"/>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1" name="Google Shape;91;p1"/>
          <p:cNvSpPr/>
          <p:nvPr/>
        </p:nvSpPr>
        <p:spPr>
          <a:xfrm>
            <a:off x="8841220" y="1682153"/>
            <a:ext cx="3907766" cy="1746847"/>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2" name="Google Shape;92;p1"/>
          <p:cNvSpPr/>
          <p:nvPr/>
        </p:nvSpPr>
        <p:spPr>
          <a:xfrm>
            <a:off x="-1733549" y="5762626"/>
            <a:ext cx="7677510" cy="1606488"/>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3" name="Google Shape;93;p1"/>
          <p:cNvSpPr/>
          <p:nvPr/>
        </p:nvSpPr>
        <p:spPr>
          <a:xfrm>
            <a:off x="5943960" y="5762626"/>
            <a:ext cx="9143640" cy="1606488"/>
          </a:xfrm>
          <a:prstGeom prst="rtTriangle">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4" name="Google Shape;94;p1"/>
          <p:cNvSpPr txBox="1"/>
          <p:nvPr/>
        </p:nvSpPr>
        <p:spPr>
          <a:xfrm>
            <a:off x="0" y="5842337"/>
            <a:ext cx="2252924"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fr-FR" sz="2000" u="none" cap="none" strike="noStrike">
                <a:solidFill>
                  <a:schemeClr val="dk1"/>
                </a:solidFill>
                <a:latin typeface="Arial"/>
                <a:ea typeface="Arial"/>
                <a:cs typeface="Arial"/>
                <a:sym typeface="Arial"/>
              </a:rPr>
              <a:t>Noah Laghlali</a:t>
            </a:r>
            <a:br>
              <a:rPr b="1" i="0" lang="fr-FR" sz="2000" u="none" cap="none" strike="noStrike">
                <a:solidFill>
                  <a:schemeClr val="dk1"/>
                </a:solidFill>
                <a:latin typeface="Arial"/>
                <a:ea typeface="Arial"/>
                <a:cs typeface="Arial"/>
                <a:sym typeface="Arial"/>
              </a:rPr>
            </a:br>
            <a:r>
              <a:rPr b="1" i="0" lang="fr-FR" sz="2000" u="none" cap="none" strike="noStrike">
                <a:solidFill>
                  <a:schemeClr val="dk1"/>
                </a:solidFill>
                <a:latin typeface="Arial"/>
                <a:ea typeface="Arial"/>
                <a:cs typeface="Arial"/>
                <a:sym typeface="Arial"/>
              </a:rPr>
              <a:t>Emma Klingler</a:t>
            </a:r>
            <a:br>
              <a:rPr b="1" i="0" lang="fr-FR" sz="2000" u="none" cap="none" strike="noStrike">
                <a:solidFill>
                  <a:schemeClr val="dk1"/>
                </a:solidFill>
                <a:latin typeface="Arial"/>
                <a:ea typeface="Arial"/>
                <a:cs typeface="Arial"/>
                <a:sym typeface="Arial"/>
              </a:rPr>
            </a:br>
            <a:r>
              <a:rPr b="1" i="0" lang="fr-FR" sz="2000" u="none" cap="none" strike="noStrike">
                <a:solidFill>
                  <a:schemeClr val="dk1"/>
                </a:solidFill>
                <a:latin typeface="Arial"/>
                <a:ea typeface="Arial"/>
                <a:cs typeface="Arial"/>
                <a:sym typeface="Arial"/>
              </a:rPr>
              <a:t>Hugo Rochedreux</a:t>
            </a:r>
            <a:endParaRPr/>
          </a:p>
        </p:txBody>
      </p:sp>
      <p:sp>
        <p:nvSpPr>
          <p:cNvPr id="95" name="Google Shape;95;p1"/>
          <p:cNvSpPr txBox="1"/>
          <p:nvPr/>
        </p:nvSpPr>
        <p:spPr>
          <a:xfrm>
            <a:off x="-4369881" y="1852735"/>
            <a:ext cx="3647152"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6000">
                <a:solidFill>
                  <a:schemeClr val="dk1"/>
                </a:solidFill>
                <a:latin typeface="Arial"/>
                <a:ea typeface="Arial"/>
                <a:cs typeface="Arial"/>
                <a:sym typeface="Arial"/>
              </a:rPr>
              <a:t>The Silent</a:t>
            </a:r>
            <a:endParaRPr/>
          </a:p>
        </p:txBody>
      </p:sp>
      <p:sp>
        <p:nvSpPr>
          <p:cNvPr id="96" name="Google Shape;96;p1"/>
          <p:cNvSpPr txBox="1"/>
          <p:nvPr/>
        </p:nvSpPr>
        <p:spPr>
          <a:xfrm>
            <a:off x="-2203834" y="2642886"/>
            <a:ext cx="1912703"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6000">
                <a:solidFill>
                  <a:schemeClr val="dk1"/>
                </a:solidFill>
                <a:latin typeface="Arial"/>
                <a:ea typeface="Arial"/>
                <a:cs typeface="Arial"/>
                <a:sym typeface="Arial"/>
              </a:rPr>
              <a:t>Hunt</a:t>
            </a:r>
            <a:endParaRPr/>
          </a:p>
        </p:txBody>
      </p:sp>
      <p:sp>
        <p:nvSpPr>
          <p:cNvPr id="97" name="Google Shape;97;p1"/>
          <p:cNvSpPr/>
          <p:nvPr/>
        </p:nvSpPr>
        <p:spPr>
          <a:xfrm flipH="1" rot="10800000">
            <a:off x="-3595590" y="3600026"/>
            <a:ext cx="2783511" cy="58523"/>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 name="Google Shape;98;p1"/>
          <p:cNvSpPr txBox="1"/>
          <p:nvPr/>
        </p:nvSpPr>
        <p:spPr>
          <a:xfrm>
            <a:off x="0" y="0"/>
            <a:ext cx="114391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000">
                <a:solidFill>
                  <a:schemeClr val="dk1"/>
                </a:solidFill>
                <a:latin typeface="Arial"/>
                <a:ea typeface="Arial"/>
                <a:cs typeface="Arial"/>
                <a:sym typeface="Arial"/>
              </a:rPr>
              <a:t>RA-IL2</a:t>
            </a:r>
            <a:endParaRPr/>
          </a:p>
        </p:txBody>
      </p:sp>
      <p:sp>
        <p:nvSpPr>
          <p:cNvPr id="99" name="Google Shape;99;p1"/>
          <p:cNvSpPr txBox="1"/>
          <p:nvPr/>
        </p:nvSpPr>
        <p:spPr>
          <a:xfrm>
            <a:off x="8943975" y="0"/>
            <a:ext cx="3248025"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latin typeface="Arial"/>
                <a:ea typeface="Arial"/>
                <a:cs typeface="Arial"/>
                <a:sym typeface="Arial"/>
              </a:rPr>
              <a:t>Projet Tutoré</a:t>
            </a:r>
            <a:endParaRPr/>
          </a:p>
        </p:txBody>
      </p:sp>
      <p:pic>
        <p:nvPicPr>
          <p:cNvPr descr="Papillon avec un remplissage uni" id="100" name="Google Shape;100;p1"/>
          <p:cNvPicPr preferRelativeResize="0"/>
          <p:nvPr/>
        </p:nvPicPr>
        <p:blipFill rotWithShape="1">
          <a:blip r:embed="rId3">
            <a:alphaModFix/>
          </a:blip>
          <a:srcRect b="0" l="0" r="0" t="0"/>
          <a:stretch/>
        </p:blipFill>
        <p:spPr>
          <a:xfrm rot="2769674">
            <a:off x="-1179929" y="3994908"/>
            <a:ext cx="914400" cy="914400"/>
          </a:xfrm>
          <a:prstGeom prst="rect">
            <a:avLst/>
          </a:prstGeom>
          <a:noFill/>
          <a:ln>
            <a:noFill/>
          </a:ln>
        </p:spPr>
      </p:pic>
      <p:pic>
        <p:nvPicPr>
          <p:cNvPr descr="Lapin avec un remplissage uni" id="101" name="Google Shape;101;p1"/>
          <p:cNvPicPr preferRelativeResize="0"/>
          <p:nvPr/>
        </p:nvPicPr>
        <p:blipFill rotWithShape="1">
          <a:blip r:embed="rId4">
            <a:alphaModFix/>
          </a:blip>
          <a:srcRect b="0" l="0" r="0" t="0"/>
          <a:stretch/>
        </p:blipFill>
        <p:spPr>
          <a:xfrm>
            <a:off x="-1872155" y="4595813"/>
            <a:ext cx="1397380" cy="1397380"/>
          </a:xfrm>
          <a:prstGeom prst="rect">
            <a:avLst/>
          </a:prstGeom>
          <a:noFill/>
          <a:ln>
            <a:noFill/>
          </a:ln>
        </p:spPr>
      </p:pic>
      <p:sp>
        <p:nvSpPr>
          <p:cNvPr id="102" name="Google Shape;102;p1"/>
          <p:cNvSpPr txBox="1"/>
          <p:nvPr/>
        </p:nvSpPr>
        <p:spPr>
          <a:xfrm>
            <a:off x="10475118" y="6335037"/>
            <a:ext cx="171688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13/02</a:t>
            </a:r>
            <a:endParaRPr/>
          </a:p>
        </p:txBody>
      </p:sp>
      <p:pic>
        <p:nvPicPr>
          <p:cNvPr id="103" name="Google Shape;103;p1"/>
          <p:cNvPicPr preferRelativeResize="0"/>
          <p:nvPr/>
        </p:nvPicPr>
        <p:blipFill rotWithShape="1">
          <a:blip r:embed="rId5">
            <a:alphaModFix/>
          </a:blip>
          <a:srcRect b="0" l="0" r="0" t="0"/>
          <a:stretch/>
        </p:blipFill>
        <p:spPr>
          <a:xfrm flipH="1" rot="-2494646">
            <a:off x="12876154" y="4194034"/>
            <a:ext cx="1397381" cy="1397381"/>
          </a:xfrm>
          <a:prstGeom prst="rect">
            <a:avLst/>
          </a:prstGeom>
          <a:noFill/>
          <a:ln>
            <a:noFill/>
          </a:ln>
        </p:spPr>
      </p:pic>
      <p:pic>
        <p:nvPicPr>
          <p:cNvPr descr="Fleur avec un remplissage uni" id="104" name="Google Shape;104;p1"/>
          <p:cNvPicPr preferRelativeResize="0"/>
          <p:nvPr/>
        </p:nvPicPr>
        <p:blipFill rotWithShape="1">
          <a:blip r:embed="rId6">
            <a:alphaModFix/>
          </a:blip>
          <a:srcRect b="0" l="0" r="0" t="0"/>
          <a:stretch/>
        </p:blipFill>
        <p:spPr>
          <a:xfrm rot="697522">
            <a:off x="8731555" y="5515292"/>
            <a:ext cx="914400" cy="914400"/>
          </a:xfrm>
          <a:prstGeom prst="rect">
            <a:avLst/>
          </a:prstGeom>
          <a:noFill/>
          <a:ln>
            <a:noFill/>
          </a:ln>
        </p:spPr>
      </p:pic>
      <p:pic>
        <p:nvPicPr>
          <p:cNvPr descr="Rose avec un remplissage uni" id="105" name="Google Shape;105;p1"/>
          <p:cNvPicPr preferRelativeResize="0"/>
          <p:nvPr/>
        </p:nvPicPr>
        <p:blipFill rotWithShape="1">
          <a:blip r:embed="rId7">
            <a:alphaModFix/>
          </a:blip>
          <a:srcRect b="0" l="0" r="0" t="0"/>
          <a:stretch/>
        </p:blipFill>
        <p:spPr>
          <a:xfrm>
            <a:off x="27621" y="4927937"/>
            <a:ext cx="914400" cy="914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p:nvPr/>
        </p:nvSpPr>
        <p:spPr>
          <a:xfrm>
            <a:off x="1262328" y="-246275"/>
            <a:ext cx="672860" cy="7104275"/>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1" name="Google Shape;111;p2"/>
          <p:cNvSpPr/>
          <p:nvPr/>
        </p:nvSpPr>
        <p:spPr>
          <a:xfrm>
            <a:off x="10473187" y="2994806"/>
            <a:ext cx="672860" cy="3955211"/>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2" name="Google Shape;112;p2"/>
          <p:cNvSpPr/>
          <p:nvPr/>
        </p:nvSpPr>
        <p:spPr>
          <a:xfrm>
            <a:off x="8855734" y="1682153"/>
            <a:ext cx="3907766" cy="1746847"/>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3" name="Google Shape;113;p2"/>
          <p:cNvSpPr/>
          <p:nvPr/>
        </p:nvSpPr>
        <p:spPr>
          <a:xfrm>
            <a:off x="-1733549" y="5762626"/>
            <a:ext cx="7677510" cy="1606488"/>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 name="Google Shape;114;p2"/>
          <p:cNvSpPr/>
          <p:nvPr/>
        </p:nvSpPr>
        <p:spPr>
          <a:xfrm>
            <a:off x="5943950" y="5762625"/>
            <a:ext cx="9143700" cy="1606500"/>
          </a:xfrm>
          <a:prstGeom prst="rtTriangle">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 name="Google Shape;115;p2"/>
          <p:cNvSpPr txBox="1"/>
          <p:nvPr/>
        </p:nvSpPr>
        <p:spPr>
          <a:xfrm>
            <a:off x="0" y="5842337"/>
            <a:ext cx="2252924"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000">
                <a:solidFill>
                  <a:schemeClr val="dk1"/>
                </a:solidFill>
                <a:latin typeface="Arial"/>
                <a:ea typeface="Arial"/>
                <a:cs typeface="Arial"/>
                <a:sym typeface="Arial"/>
              </a:rPr>
              <a:t>Noah Laghlali</a:t>
            </a:r>
            <a:br>
              <a:rPr b="1" lang="fr-FR" sz="2000">
                <a:solidFill>
                  <a:schemeClr val="dk1"/>
                </a:solidFill>
                <a:latin typeface="Arial"/>
                <a:ea typeface="Arial"/>
                <a:cs typeface="Arial"/>
                <a:sym typeface="Arial"/>
              </a:rPr>
            </a:br>
            <a:r>
              <a:rPr b="1" lang="fr-FR" sz="2000">
                <a:solidFill>
                  <a:schemeClr val="dk1"/>
                </a:solidFill>
                <a:latin typeface="Arial"/>
                <a:ea typeface="Arial"/>
                <a:cs typeface="Arial"/>
                <a:sym typeface="Arial"/>
              </a:rPr>
              <a:t>Emma Klingler</a:t>
            </a:r>
            <a:br>
              <a:rPr b="1" lang="fr-FR" sz="2000">
                <a:solidFill>
                  <a:schemeClr val="dk1"/>
                </a:solidFill>
                <a:latin typeface="Arial"/>
                <a:ea typeface="Arial"/>
                <a:cs typeface="Arial"/>
                <a:sym typeface="Arial"/>
              </a:rPr>
            </a:br>
            <a:r>
              <a:rPr b="1" lang="fr-FR" sz="2000">
                <a:solidFill>
                  <a:schemeClr val="dk1"/>
                </a:solidFill>
                <a:latin typeface="Arial"/>
                <a:ea typeface="Arial"/>
                <a:cs typeface="Arial"/>
                <a:sym typeface="Arial"/>
              </a:rPr>
              <a:t>Hugo Rochedreux</a:t>
            </a:r>
            <a:endParaRPr/>
          </a:p>
        </p:txBody>
      </p:sp>
      <p:sp>
        <p:nvSpPr>
          <p:cNvPr id="116" name="Google Shape;116;p2"/>
          <p:cNvSpPr txBox="1"/>
          <p:nvPr/>
        </p:nvSpPr>
        <p:spPr>
          <a:xfrm>
            <a:off x="3409782" y="1852735"/>
            <a:ext cx="3647152"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6000">
                <a:solidFill>
                  <a:schemeClr val="dk1"/>
                </a:solidFill>
                <a:latin typeface="Arial"/>
                <a:ea typeface="Arial"/>
                <a:cs typeface="Arial"/>
                <a:sym typeface="Arial"/>
              </a:rPr>
              <a:t>The Silent</a:t>
            </a:r>
            <a:endParaRPr/>
          </a:p>
        </p:txBody>
      </p:sp>
      <p:sp>
        <p:nvSpPr>
          <p:cNvPr id="117" name="Google Shape;117;p2"/>
          <p:cNvSpPr txBox="1"/>
          <p:nvPr/>
        </p:nvSpPr>
        <p:spPr>
          <a:xfrm>
            <a:off x="5589249" y="2797950"/>
            <a:ext cx="24108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6000">
                <a:solidFill>
                  <a:schemeClr val="dk1"/>
                </a:solidFill>
                <a:latin typeface="Arial"/>
                <a:ea typeface="Arial"/>
                <a:cs typeface="Arial"/>
                <a:sym typeface="Arial"/>
              </a:rPr>
              <a:t>Hu</a:t>
            </a:r>
            <a:r>
              <a:rPr b="1" lang="fr-FR" sz="6000">
                <a:solidFill>
                  <a:schemeClr val="dk1"/>
                </a:solidFill>
              </a:rPr>
              <a:t>n</a:t>
            </a:r>
            <a:r>
              <a:rPr b="1" lang="fr-FR" sz="6000">
                <a:solidFill>
                  <a:schemeClr val="dk1"/>
                </a:solidFill>
                <a:latin typeface="Arial"/>
                <a:ea typeface="Arial"/>
                <a:cs typeface="Arial"/>
                <a:sym typeface="Arial"/>
              </a:rPr>
              <a:t>t</a:t>
            </a:r>
            <a:endParaRPr/>
          </a:p>
        </p:txBody>
      </p:sp>
      <p:sp>
        <p:nvSpPr>
          <p:cNvPr id="118" name="Google Shape;118;p2"/>
          <p:cNvSpPr txBox="1"/>
          <p:nvPr/>
        </p:nvSpPr>
        <p:spPr>
          <a:xfrm>
            <a:off x="0" y="0"/>
            <a:ext cx="114391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000">
                <a:solidFill>
                  <a:schemeClr val="dk1"/>
                </a:solidFill>
                <a:latin typeface="Arial"/>
                <a:ea typeface="Arial"/>
                <a:cs typeface="Arial"/>
                <a:sym typeface="Arial"/>
              </a:rPr>
              <a:t>RA-IL2</a:t>
            </a:r>
            <a:endParaRPr/>
          </a:p>
        </p:txBody>
      </p:sp>
      <p:sp>
        <p:nvSpPr>
          <p:cNvPr id="119" name="Google Shape;119;p2"/>
          <p:cNvSpPr txBox="1"/>
          <p:nvPr/>
        </p:nvSpPr>
        <p:spPr>
          <a:xfrm>
            <a:off x="8943975" y="0"/>
            <a:ext cx="3248025"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latin typeface="Arial"/>
                <a:ea typeface="Arial"/>
                <a:cs typeface="Arial"/>
                <a:sym typeface="Arial"/>
              </a:rPr>
              <a:t>Projet Tutoré</a:t>
            </a:r>
            <a:endParaRPr/>
          </a:p>
        </p:txBody>
      </p:sp>
      <p:pic>
        <p:nvPicPr>
          <p:cNvPr descr="Papillon avec un remplissage uni" id="120" name="Google Shape;120;p2"/>
          <p:cNvPicPr preferRelativeResize="0"/>
          <p:nvPr/>
        </p:nvPicPr>
        <p:blipFill rotWithShape="1">
          <a:blip r:embed="rId3">
            <a:alphaModFix/>
          </a:blip>
          <a:srcRect b="0" l="0" r="0" t="0"/>
          <a:stretch/>
        </p:blipFill>
        <p:spPr>
          <a:xfrm rot="2769674">
            <a:off x="7677777" y="189245"/>
            <a:ext cx="914400" cy="914400"/>
          </a:xfrm>
          <a:prstGeom prst="rect">
            <a:avLst/>
          </a:prstGeom>
          <a:noFill/>
          <a:ln>
            <a:noFill/>
          </a:ln>
        </p:spPr>
      </p:pic>
      <p:pic>
        <p:nvPicPr>
          <p:cNvPr descr="Lapin avec un remplissage uni" id="121" name="Google Shape;121;p2"/>
          <p:cNvPicPr preferRelativeResize="0"/>
          <p:nvPr/>
        </p:nvPicPr>
        <p:blipFill rotWithShape="1">
          <a:blip r:embed="rId4">
            <a:alphaModFix/>
          </a:blip>
          <a:srcRect b="0" l="0" r="0" t="0"/>
          <a:stretch/>
        </p:blipFill>
        <p:spPr>
          <a:xfrm>
            <a:off x="1843504" y="4595813"/>
            <a:ext cx="1397380" cy="1397380"/>
          </a:xfrm>
          <a:prstGeom prst="rect">
            <a:avLst/>
          </a:prstGeom>
          <a:noFill/>
          <a:ln>
            <a:noFill/>
          </a:ln>
        </p:spPr>
      </p:pic>
      <p:sp>
        <p:nvSpPr>
          <p:cNvPr id="122" name="Google Shape;122;p2"/>
          <p:cNvSpPr txBox="1"/>
          <p:nvPr/>
        </p:nvSpPr>
        <p:spPr>
          <a:xfrm>
            <a:off x="10475118" y="6335037"/>
            <a:ext cx="171688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13/02</a:t>
            </a:r>
            <a:endParaRPr/>
          </a:p>
        </p:txBody>
      </p:sp>
      <p:pic>
        <p:nvPicPr>
          <p:cNvPr id="123" name="Google Shape;123;p2"/>
          <p:cNvPicPr preferRelativeResize="0"/>
          <p:nvPr/>
        </p:nvPicPr>
        <p:blipFill rotWithShape="1">
          <a:blip r:embed="rId5">
            <a:alphaModFix/>
          </a:blip>
          <a:srcRect b="0" l="0" r="0" t="0"/>
          <a:stretch/>
        </p:blipFill>
        <p:spPr>
          <a:xfrm flipH="1" rot="-2494646">
            <a:off x="11491237" y="4194034"/>
            <a:ext cx="1397381" cy="1397381"/>
          </a:xfrm>
          <a:prstGeom prst="rect">
            <a:avLst/>
          </a:prstGeom>
          <a:noFill/>
          <a:ln>
            <a:noFill/>
          </a:ln>
        </p:spPr>
      </p:pic>
      <p:pic>
        <p:nvPicPr>
          <p:cNvPr descr="Fleur avec un remplissage uni" id="124" name="Google Shape;124;p2"/>
          <p:cNvPicPr preferRelativeResize="0"/>
          <p:nvPr/>
        </p:nvPicPr>
        <p:blipFill rotWithShape="1">
          <a:blip r:embed="rId6">
            <a:alphaModFix/>
          </a:blip>
          <a:srcRect b="0" l="0" r="0" t="0"/>
          <a:stretch/>
        </p:blipFill>
        <p:spPr>
          <a:xfrm rot="697522">
            <a:off x="8731555" y="5515292"/>
            <a:ext cx="914400" cy="914400"/>
          </a:xfrm>
          <a:prstGeom prst="rect">
            <a:avLst/>
          </a:prstGeom>
          <a:noFill/>
          <a:ln>
            <a:noFill/>
          </a:ln>
        </p:spPr>
      </p:pic>
      <p:pic>
        <p:nvPicPr>
          <p:cNvPr descr="Rose avec un remplissage uni" id="125" name="Google Shape;125;p2"/>
          <p:cNvPicPr preferRelativeResize="0"/>
          <p:nvPr/>
        </p:nvPicPr>
        <p:blipFill rotWithShape="1">
          <a:blip r:embed="rId7">
            <a:alphaModFix/>
          </a:blip>
          <a:srcRect b="0" l="0" r="0" t="0"/>
          <a:stretch/>
        </p:blipFill>
        <p:spPr>
          <a:xfrm>
            <a:off x="27621" y="4927937"/>
            <a:ext cx="914400" cy="914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p:nvPr/>
        </p:nvSpPr>
        <p:spPr>
          <a:xfrm>
            <a:off x="9103101" y="1349092"/>
            <a:ext cx="672900" cy="5483400"/>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1" name="Google Shape;131;p3"/>
          <p:cNvSpPr/>
          <p:nvPr/>
        </p:nvSpPr>
        <p:spPr>
          <a:xfrm>
            <a:off x="7485647" y="3591959"/>
            <a:ext cx="3907800" cy="8424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2" name="Google Shape;132;p3"/>
          <p:cNvSpPr/>
          <p:nvPr/>
        </p:nvSpPr>
        <p:spPr>
          <a:xfrm>
            <a:off x="7858696" y="1543186"/>
            <a:ext cx="3121800" cy="8424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3" name="Google Shape;133;p3"/>
          <p:cNvSpPr/>
          <p:nvPr/>
        </p:nvSpPr>
        <p:spPr>
          <a:xfrm>
            <a:off x="7646224" y="2579794"/>
            <a:ext cx="3586500" cy="8424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 name="Google Shape;134;p3"/>
          <p:cNvSpPr/>
          <p:nvPr/>
        </p:nvSpPr>
        <p:spPr>
          <a:xfrm>
            <a:off x="8254635" y="788374"/>
            <a:ext cx="2369700" cy="5607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5" name="Google Shape;135;p3"/>
          <p:cNvSpPr/>
          <p:nvPr/>
        </p:nvSpPr>
        <p:spPr>
          <a:xfrm>
            <a:off x="6599755" y="527372"/>
            <a:ext cx="672900" cy="5483400"/>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6" name="Google Shape;136;p3"/>
          <p:cNvSpPr/>
          <p:nvPr/>
        </p:nvSpPr>
        <p:spPr>
          <a:xfrm>
            <a:off x="4982302" y="-785281"/>
            <a:ext cx="3907800" cy="17469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7" name="Google Shape;137;p3"/>
          <p:cNvSpPr/>
          <p:nvPr/>
        </p:nvSpPr>
        <p:spPr>
          <a:xfrm>
            <a:off x="10720553" y="1557524"/>
            <a:ext cx="672900" cy="5727300"/>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8" name="Google Shape;138;p3"/>
          <p:cNvSpPr/>
          <p:nvPr/>
        </p:nvSpPr>
        <p:spPr>
          <a:xfrm>
            <a:off x="9103100" y="244871"/>
            <a:ext cx="3907800" cy="1746900"/>
          </a:xfrm>
          <a:prstGeom prst="rect">
            <a:avLst/>
          </a:prstGeom>
          <a:solidFill>
            <a:srgbClr val="A11D0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 name="Google Shape;139;p3"/>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0" name="Google Shape;140;p3"/>
          <p:cNvSpPr txBox="1"/>
          <p:nvPr/>
        </p:nvSpPr>
        <p:spPr>
          <a:xfrm>
            <a:off x="159799" y="858929"/>
            <a:ext cx="8730300" cy="4402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800">
                <a:solidFill>
                  <a:schemeClr val="dk1"/>
                </a:solidFill>
                <a:latin typeface="Arial"/>
                <a:ea typeface="Arial"/>
                <a:cs typeface="Arial"/>
                <a:sym typeface="Arial"/>
              </a:rPr>
              <a:t>1 –</a:t>
            </a:r>
            <a:r>
              <a:rPr b="1" lang="fr-FR" sz="2800">
                <a:solidFill>
                  <a:schemeClr val="dk1"/>
                </a:solidFill>
              </a:rPr>
              <a:t> Objectif d’itération</a:t>
            </a:r>
            <a:endParaRPr b="1" sz="2800">
              <a:solidFill>
                <a:schemeClr val="dk1"/>
              </a:solidFill>
            </a:endParaRPr>
          </a:p>
          <a:p>
            <a:pPr indent="0" lvl="0" marL="0" marR="0" rtl="0" algn="l">
              <a:spcBef>
                <a:spcPts val="0"/>
              </a:spcBef>
              <a:spcAft>
                <a:spcPts val="0"/>
              </a:spcAft>
              <a:buNone/>
            </a:pPr>
            <a:r>
              <a:rPr b="1" lang="fr-FR" sz="2800">
                <a:solidFill>
                  <a:schemeClr val="dk1"/>
                </a:solidFill>
              </a:rPr>
              <a:t>2 – Terrier</a:t>
            </a:r>
            <a:endParaRPr b="1" sz="2800">
              <a:solidFill>
                <a:schemeClr val="dk1"/>
              </a:solidFill>
            </a:endParaRPr>
          </a:p>
          <a:p>
            <a:pPr indent="0" lvl="0" marL="0" marR="0" rtl="0" algn="l">
              <a:spcBef>
                <a:spcPts val="0"/>
              </a:spcBef>
              <a:spcAft>
                <a:spcPts val="0"/>
              </a:spcAft>
              <a:buNone/>
            </a:pPr>
            <a:r>
              <a:rPr b="1" lang="fr-FR" sz="2800">
                <a:solidFill>
                  <a:schemeClr val="dk1"/>
                </a:solidFill>
              </a:rPr>
              <a:t>3</a:t>
            </a:r>
            <a:r>
              <a:rPr b="1" lang="fr-FR" sz="2800">
                <a:solidFill>
                  <a:schemeClr val="dk1"/>
                </a:solidFill>
              </a:rPr>
              <a:t> – Cachette (Buisson)</a:t>
            </a:r>
            <a:endParaRPr b="1" sz="2800">
              <a:solidFill>
                <a:schemeClr val="dk1"/>
              </a:solidFill>
            </a:endParaRPr>
          </a:p>
          <a:p>
            <a:pPr indent="0" lvl="0" marL="0" marR="0" rtl="0" algn="l">
              <a:spcBef>
                <a:spcPts val="0"/>
              </a:spcBef>
              <a:spcAft>
                <a:spcPts val="0"/>
              </a:spcAft>
              <a:buNone/>
            </a:pPr>
            <a:r>
              <a:rPr b="1" lang="fr-FR" sz="2800">
                <a:solidFill>
                  <a:schemeClr val="dk1"/>
                </a:solidFill>
              </a:rPr>
              <a:t>4</a:t>
            </a:r>
            <a:r>
              <a:rPr b="1" lang="fr-FR" sz="2800">
                <a:solidFill>
                  <a:schemeClr val="dk1"/>
                </a:solidFill>
                <a:latin typeface="Arial"/>
                <a:ea typeface="Arial"/>
                <a:cs typeface="Arial"/>
                <a:sym typeface="Arial"/>
              </a:rPr>
              <a:t> – </a:t>
            </a:r>
            <a:r>
              <a:rPr b="1" lang="fr-FR" sz="2800">
                <a:solidFill>
                  <a:schemeClr val="dk1"/>
                </a:solidFill>
              </a:rPr>
              <a:t>Utility</a:t>
            </a:r>
            <a:endParaRPr b="1" sz="2800">
              <a:solidFill>
                <a:schemeClr val="dk1"/>
              </a:solidFill>
            </a:endParaRPr>
          </a:p>
          <a:p>
            <a:pPr indent="0" lvl="0" marL="0" rtl="0" algn="l">
              <a:spcBef>
                <a:spcPts val="0"/>
              </a:spcBef>
              <a:spcAft>
                <a:spcPts val="0"/>
              </a:spcAft>
              <a:buClr>
                <a:schemeClr val="dk1"/>
              </a:buClr>
              <a:buFont typeface="Arial"/>
              <a:buNone/>
            </a:pPr>
            <a:r>
              <a:rPr b="1" lang="fr-FR" sz="2800">
                <a:solidFill>
                  <a:schemeClr val="dk1"/>
                </a:solidFill>
              </a:rPr>
              <a:t>5 – Ajout UX</a:t>
            </a:r>
            <a:endParaRPr b="1" sz="2800">
              <a:solidFill>
                <a:schemeClr val="dk1"/>
              </a:solidFill>
            </a:endParaRPr>
          </a:p>
          <a:p>
            <a:pPr indent="0" lvl="0" marL="0" marR="0" rtl="0" algn="l">
              <a:spcBef>
                <a:spcPts val="0"/>
              </a:spcBef>
              <a:spcAft>
                <a:spcPts val="0"/>
              </a:spcAft>
              <a:buNone/>
            </a:pPr>
            <a:r>
              <a:rPr b="1" lang="fr-FR" sz="2800">
                <a:solidFill>
                  <a:schemeClr val="dk1"/>
                </a:solidFill>
              </a:rPr>
              <a:t>6 – Tests </a:t>
            </a:r>
            <a:endParaRPr b="1" sz="2800">
              <a:solidFill>
                <a:schemeClr val="dk1"/>
              </a:solidFill>
            </a:endParaRPr>
          </a:p>
          <a:p>
            <a:pPr indent="0" lvl="0" marL="0" rtl="0" algn="l">
              <a:spcBef>
                <a:spcPts val="0"/>
              </a:spcBef>
              <a:spcAft>
                <a:spcPts val="0"/>
              </a:spcAft>
              <a:buClr>
                <a:schemeClr val="dk1"/>
              </a:buClr>
              <a:buFont typeface="Arial"/>
              <a:buNone/>
            </a:pPr>
            <a:r>
              <a:rPr b="1" lang="fr-FR" sz="2800">
                <a:solidFill>
                  <a:schemeClr val="dk1"/>
                </a:solidFill>
              </a:rPr>
              <a:t>7 – Répartition des tâches</a:t>
            </a:r>
            <a:endParaRPr b="1" sz="2800">
              <a:solidFill>
                <a:schemeClr val="dk1"/>
              </a:solidFill>
            </a:endParaRPr>
          </a:p>
          <a:p>
            <a:pPr indent="0" lvl="0" marL="0" marR="0" rtl="0" algn="l">
              <a:spcBef>
                <a:spcPts val="0"/>
              </a:spcBef>
              <a:spcAft>
                <a:spcPts val="0"/>
              </a:spcAft>
              <a:buNone/>
            </a:pPr>
            <a:r>
              <a:rPr b="1" lang="fr-FR" sz="2800">
                <a:solidFill>
                  <a:schemeClr val="dk1"/>
                </a:solidFill>
              </a:rPr>
              <a:t>8 – Behaviour tree lapin</a:t>
            </a:r>
            <a:endParaRPr b="1" sz="2800">
              <a:solidFill>
                <a:schemeClr val="dk1"/>
              </a:solidFill>
            </a:endParaRPr>
          </a:p>
          <a:p>
            <a:pPr indent="0" lvl="0" marL="0" rtl="0" algn="l">
              <a:spcBef>
                <a:spcPts val="0"/>
              </a:spcBef>
              <a:spcAft>
                <a:spcPts val="0"/>
              </a:spcAft>
              <a:buClr>
                <a:schemeClr val="dk1"/>
              </a:buClr>
              <a:buFont typeface="Arial"/>
              <a:buNone/>
            </a:pPr>
            <a:r>
              <a:rPr b="1" lang="fr-FR" sz="2800">
                <a:solidFill>
                  <a:schemeClr val="dk1"/>
                </a:solidFill>
              </a:rPr>
              <a:t>9 – Itération V</a:t>
            </a:r>
            <a:endParaRPr b="1" sz="2800">
              <a:solidFill>
                <a:schemeClr val="dk1"/>
              </a:solidFill>
            </a:endParaRPr>
          </a:p>
          <a:p>
            <a:pPr indent="0" lvl="0" marL="0" marR="0" rtl="0" algn="l">
              <a:spcBef>
                <a:spcPts val="0"/>
              </a:spcBef>
              <a:spcAft>
                <a:spcPts val="0"/>
              </a:spcAft>
              <a:buNone/>
            </a:pPr>
            <a:r>
              <a:rPr b="1" lang="fr-FR" sz="2800">
                <a:solidFill>
                  <a:schemeClr val="dk1"/>
                </a:solidFill>
              </a:rPr>
              <a:t>10 – Bilan</a:t>
            </a:r>
            <a:endParaRPr b="1" sz="2800">
              <a:solidFill>
                <a:schemeClr val="dk1"/>
              </a:solidFill>
            </a:endParaRPr>
          </a:p>
        </p:txBody>
      </p:sp>
      <p:sp>
        <p:nvSpPr>
          <p:cNvPr id="141" name="Google Shape;141;p3"/>
          <p:cNvSpPr txBox="1"/>
          <p:nvPr/>
        </p:nvSpPr>
        <p:spPr>
          <a:xfrm>
            <a:off x="11829142" y="6335037"/>
            <a:ext cx="3630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latin typeface="Arial"/>
                <a:ea typeface="Arial"/>
                <a:cs typeface="Arial"/>
                <a:sym typeface="Arial"/>
              </a:rPr>
              <a:t>1</a:t>
            </a:r>
            <a:endParaRPr/>
          </a:p>
        </p:txBody>
      </p:sp>
      <p:sp>
        <p:nvSpPr>
          <p:cNvPr id="142" name="Google Shape;142;p3"/>
          <p:cNvSpPr txBox="1"/>
          <p:nvPr/>
        </p:nvSpPr>
        <p:spPr>
          <a:xfrm>
            <a:off x="159800" y="142049"/>
            <a:ext cx="27801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3600">
                <a:solidFill>
                  <a:schemeClr val="dk1"/>
                </a:solidFill>
                <a:latin typeface="Arial"/>
                <a:ea typeface="Arial"/>
                <a:cs typeface="Arial"/>
                <a:sym typeface="Arial"/>
              </a:rPr>
              <a:t>Sommaire</a:t>
            </a:r>
            <a:endParaRPr/>
          </a:p>
        </p:txBody>
      </p:sp>
      <p:pic>
        <p:nvPicPr>
          <p:cNvPr descr="Fleur avec un remplissage uni" id="143" name="Google Shape;143;p3"/>
          <p:cNvPicPr preferRelativeResize="0"/>
          <p:nvPr/>
        </p:nvPicPr>
        <p:blipFill rotWithShape="1">
          <a:blip r:embed="rId3">
            <a:alphaModFix/>
          </a:blip>
          <a:srcRect b="0" l="0" r="0" t="0"/>
          <a:stretch/>
        </p:blipFill>
        <p:spPr>
          <a:xfrm>
            <a:off x="5365640" y="4922579"/>
            <a:ext cx="914400" cy="914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c7962d81b2_0_22"/>
          <p:cNvSpPr txBox="1"/>
          <p:nvPr/>
        </p:nvSpPr>
        <p:spPr>
          <a:xfrm>
            <a:off x="517950" y="1151250"/>
            <a:ext cx="11156100" cy="420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sz="2800">
              <a:solidFill>
                <a:schemeClr val="dk1"/>
              </a:solidFill>
            </a:endParaRPr>
          </a:p>
          <a:p>
            <a:pPr indent="-406400" lvl="0" marL="457200" rtl="0" algn="l">
              <a:lnSpc>
                <a:spcPct val="115000"/>
              </a:lnSpc>
              <a:spcBef>
                <a:spcPts val="1800"/>
              </a:spcBef>
              <a:spcAft>
                <a:spcPts val="0"/>
              </a:spcAft>
              <a:buClr>
                <a:schemeClr val="dk1"/>
              </a:buClr>
              <a:buSzPts val="2800"/>
              <a:buChar char="-"/>
            </a:pPr>
            <a:r>
              <a:rPr lang="fr-FR" sz="2800">
                <a:solidFill>
                  <a:schemeClr val="dk1"/>
                </a:solidFill>
              </a:rPr>
              <a:t>Finaliser les interactions environnementales (Terrier / Cachette)</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Structurer l’IA du lapin via un Behavior Tree</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Mettre en place une phase de tests (Lapin / Chasseur)</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Préparer l’intégration des systèmes Utility</a:t>
            </a:r>
            <a:endParaRPr sz="2800">
              <a:solidFill>
                <a:schemeClr val="dk1"/>
              </a:solidFill>
            </a:endParaRPr>
          </a:p>
          <a:p>
            <a:pPr indent="0" lvl="0" marL="0" rtl="0" algn="l">
              <a:lnSpc>
                <a:spcPct val="115000"/>
              </a:lnSpc>
              <a:spcBef>
                <a:spcPts val="1800"/>
              </a:spcBef>
              <a:spcAft>
                <a:spcPts val="0"/>
              </a:spcAft>
              <a:buNone/>
            </a:pPr>
            <a:r>
              <a:t/>
            </a:r>
            <a:endParaRPr sz="2800">
              <a:solidFill>
                <a:schemeClr val="dk1"/>
              </a:solidFill>
            </a:endParaRPr>
          </a:p>
          <a:p>
            <a:pPr indent="0" lvl="0" marL="457200" rtl="0" algn="l">
              <a:lnSpc>
                <a:spcPct val="115000"/>
              </a:lnSpc>
              <a:spcBef>
                <a:spcPts val="1200"/>
              </a:spcBef>
              <a:spcAft>
                <a:spcPts val="1200"/>
              </a:spcAft>
              <a:buNone/>
            </a:pPr>
            <a:r>
              <a:t/>
            </a:r>
            <a:endParaRPr sz="2800">
              <a:solidFill>
                <a:schemeClr val="dk1"/>
              </a:solidFill>
            </a:endParaRPr>
          </a:p>
        </p:txBody>
      </p:sp>
      <p:sp>
        <p:nvSpPr>
          <p:cNvPr id="150" name="Google Shape;150;g3c7962d81b2_0_22"/>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1" name="Google Shape;151;g3c7962d81b2_0_22"/>
          <p:cNvSpPr txBox="1"/>
          <p:nvPr/>
        </p:nvSpPr>
        <p:spPr>
          <a:xfrm>
            <a:off x="11829142" y="6335037"/>
            <a:ext cx="3630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3</a:t>
            </a:r>
            <a:endParaRPr/>
          </a:p>
        </p:txBody>
      </p:sp>
      <p:sp>
        <p:nvSpPr>
          <p:cNvPr id="152" name="Google Shape;152;g3c7962d81b2_0_22"/>
          <p:cNvSpPr txBox="1"/>
          <p:nvPr/>
        </p:nvSpPr>
        <p:spPr>
          <a:xfrm>
            <a:off x="341450" y="535650"/>
            <a:ext cx="4839000" cy="615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800"/>
              </a:spcBef>
              <a:spcAft>
                <a:spcPts val="400"/>
              </a:spcAft>
              <a:buClr>
                <a:schemeClr val="dk1"/>
              </a:buClr>
              <a:buSzPts val="1100"/>
              <a:buFont typeface="Arial"/>
              <a:buNone/>
            </a:pPr>
            <a:r>
              <a:rPr b="1" lang="fr-FR" sz="3400">
                <a:solidFill>
                  <a:schemeClr val="dk1"/>
                </a:solidFill>
              </a:rPr>
              <a:t>Objectifs itération 4</a:t>
            </a:r>
            <a:endParaRPr b="1" sz="42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c7bd57e04d_3_6"/>
          <p:cNvSpPr/>
          <p:nvPr/>
        </p:nvSpPr>
        <p:spPr>
          <a:xfrm>
            <a:off x="11181475" y="398100"/>
            <a:ext cx="672900" cy="5937000"/>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9" name="Google Shape;159;g3c7bd57e04d_3_6"/>
          <p:cNvSpPr/>
          <p:nvPr/>
        </p:nvSpPr>
        <p:spPr>
          <a:xfrm>
            <a:off x="9564034" y="-914547"/>
            <a:ext cx="3907800" cy="17469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0" name="Google Shape;160;g3c7bd57e04d_3_6"/>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1" name="Google Shape;161;g3c7bd57e04d_3_6"/>
          <p:cNvSpPr txBox="1"/>
          <p:nvPr/>
        </p:nvSpPr>
        <p:spPr>
          <a:xfrm>
            <a:off x="11829142" y="6335037"/>
            <a:ext cx="3630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4</a:t>
            </a:r>
            <a:endParaRPr/>
          </a:p>
        </p:txBody>
      </p:sp>
      <p:sp>
        <p:nvSpPr>
          <p:cNvPr id="162" name="Google Shape;162;g3c7bd57e04d_3_6"/>
          <p:cNvSpPr txBox="1"/>
          <p:nvPr/>
        </p:nvSpPr>
        <p:spPr>
          <a:xfrm>
            <a:off x="341450" y="535650"/>
            <a:ext cx="4839000" cy="61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fr-FR" sz="3400">
                <a:solidFill>
                  <a:schemeClr val="dk1"/>
                </a:solidFill>
              </a:rPr>
              <a:t>Terrier</a:t>
            </a:r>
            <a:endParaRPr b="1" sz="4200">
              <a:solidFill>
                <a:schemeClr val="dk1"/>
              </a:solidFill>
              <a:latin typeface="Arial"/>
              <a:ea typeface="Arial"/>
              <a:cs typeface="Arial"/>
              <a:sym typeface="Arial"/>
            </a:endParaRPr>
          </a:p>
        </p:txBody>
      </p:sp>
      <p:sp>
        <p:nvSpPr>
          <p:cNvPr id="163" name="Google Shape;163;g3c7bd57e04d_3_6"/>
          <p:cNvSpPr txBox="1"/>
          <p:nvPr/>
        </p:nvSpPr>
        <p:spPr>
          <a:xfrm>
            <a:off x="668999" y="1780599"/>
            <a:ext cx="4694100" cy="3497100"/>
          </a:xfrm>
          <a:prstGeom prst="rect">
            <a:avLst/>
          </a:prstGeom>
          <a:noFill/>
          <a:ln>
            <a:noFill/>
          </a:ln>
        </p:spPr>
        <p:txBody>
          <a:bodyPr anchorCtr="0" anchor="t" bIns="45700" lIns="91425" spcFirstLastPara="1" rIns="91425" wrap="square" tIns="45700">
            <a:spAutoFit/>
          </a:bodyPr>
          <a:lstStyle/>
          <a:p>
            <a:pPr indent="-406400" lvl="0" marL="457200" marR="0" rtl="0" algn="l">
              <a:lnSpc>
                <a:spcPct val="115000"/>
              </a:lnSpc>
              <a:spcBef>
                <a:spcPts val="0"/>
              </a:spcBef>
              <a:spcAft>
                <a:spcPts val="0"/>
              </a:spcAft>
              <a:buClr>
                <a:schemeClr val="dk1"/>
              </a:buClr>
              <a:buSzPts val="2800"/>
              <a:buChar char="-"/>
            </a:pPr>
            <a:r>
              <a:rPr lang="fr-FR" sz="2800">
                <a:solidFill>
                  <a:schemeClr val="dk1"/>
                </a:solidFill>
              </a:rPr>
              <a:t>Cachette pour le lapin</a:t>
            </a:r>
            <a:endParaRPr sz="2800">
              <a:solidFill>
                <a:schemeClr val="dk1"/>
              </a:solidFill>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Zone de téléportation</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Point de rencontre pour les lapins</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Équilibrage pour ne pas être trop fort</a:t>
            </a:r>
            <a:endParaRPr sz="2800">
              <a:solidFill>
                <a:schemeClr val="dk1"/>
              </a:solidFill>
            </a:endParaRPr>
          </a:p>
          <a:p>
            <a:pPr indent="0" lvl="0" marL="0" rtl="0" algn="l">
              <a:spcBef>
                <a:spcPts val="0"/>
              </a:spcBef>
              <a:spcAft>
                <a:spcPts val="0"/>
              </a:spcAft>
              <a:buNone/>
            </a:pPr>
            <a:r>
              <a:t/>
            </a:r>
            <a:endParaRPr sz="2800">
              <a:solidFill>
                <a:schemeClr val="dk1"/>
              </a:solidFill>
            </a:endParaRPr>
          </a:p>
        </p:txBody>
      </p:sp>
      <p:pic>
        <p:nvPicPr>
          <p:cNvPr descr="Lapin avec un remplissage uni" id="164" name="Google Shape;164;g3c7bd57e04d_3_6"/>
          <p:cNvPicPr preferRelativeResize="0"/>
          <p:nvPr/>
        </p:nvPicPr>
        <p:blipFill rotWithShape="1">
          <a:blip r:embed="rId3">
            <a:alphaModFix/>
          </a:blip>
          <a:srcRect b="0" l="0" r="0" t="0"/>
          <a:stretch/>
        </p:blipFill>
        <p:spPr>
          <a:xfrm>
            <a:off x="0" y="4580855"/>
            <a:ext cx="1397380" cy="1397380"/>
          </a:xfrm>
          <a:prstGeom prst="rect">
            <a:avLst/>
          </a:prstGeom>
          <a:noFill/>
          <a:ln>
            <a:noFill/>
          </a:ln>
        </p:spPr>
      </p:pic>
      <p:pic>
        <p:nvPicPr>
          <p:cNvPr id="165" name="Google Shape;165;g3c7bd57e04d_3_6"/>
          <p:cNvPicPr preferRelativeResize="0"/>
          <p:nvPr/>
        </p:nvPicPr>
        <p:blipFill>
          <a:blip r:embed="rId4">
            <a:alphaModFix/>
          </a:blip>
          <a:stretch>
            <a:fillRect/>
          </a:stretch>
        </p:blipFill>
        <p:spPr>
          <a:xfrm>
            <a:off x="5570113" y="972489"/>
            <a:ext cx="5139837" cy="4649986"/>
          </a:xfrm>
          <a:prstGeom prst="rect">
            <a:avLst/>
          </a:prstGeom>
          <a:noFill/>
          <a:ln>
            <a:noFill/>
          </a:ln>
        </p:spPr>
      </p:pic>
      <p:sp>
        <p:nvSpPr>
          <p:cNvPr id="166" name="Google Shape;166;g3c7bd57e04d_3_6"/>
          <p:cNvSpPr txBox="1"/>
          <p:nvPr/>
        </p:nvSpPr>
        <p:spPr>
          <a:xfrm>
            <a:off x="6444724" y="234725"/>
            <a:ext cx="46941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fr-FR" sz="2800">
                <a:solidFill>
                  <a:schemeClr val="dk1"/>
                </a:solidFill>
              </a:rPr>
              <a:t>Entrées terrier</a:t>
            </a:r>
            <a:endParaRPr sz="2800">
              <a:solidFill>
                <a:schemeClr val="dk1"/>
              </a:solidFill>
            </a:endParaRPr>
          </a:p>
        </p:txBody>
      </p:sp>
      <p:sp>
        <p:nvSpPr>
          <p:cNvPr id="167" name="Google Shape;167;g3c7bd57e04d_3_6"/>
          <p:cNvSpPr/>
          <p:nvPr/>
        </p:nvSpPr>
        <p:spPr>
          <a:xfrm>
            <a:off x="5857875" y="234725"/>
            <a:ext cx="544200" cy="523200"/>
          </a:xfrm>
          <a:prstGeom prst="ellipse">
            <a:avLst/>
          </a:prstGeom>
          <a:solidFill>
            <a:srgbClr val="004DE6"/>
          </a:solidFill>
          <a:ln cap="flat" cmpd="sng" w="9525">
            <a:solidFill>
              <a:srgbClr val="004D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c9befa48df_1_0"/>
          <p:cNvSpPr/>
          <p:nvPr/>
        </p:nvSpPr>
        <p:spPr>
          <a:xfrm>
            <a:off x="11181475" y="398100"/>
            <a:ext cx="672900" cy="5937000"/>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4" name="Google Shape;174;g3c9befa48df_1_0"/>
          <p:cNvSpPr/>
          <p:nvPr/>
        </p:nvSpPr>
        <p:spPr>
          <a:xfrm>
            <a:off x="9564034" y="-914547"/>
            <a:ext cx="3907800" cy="17469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5" name="Google Shape;175;g3c9befa48df_1_0"/>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6" name="Google Shape;176;g3c9befa48df_1_0"/>
          <p:cNvSpPr txBox="1"/>
          <p:nvPr/>
        </p:nvSpPr>
        <p:spPr>
          <a:xfrm>
            <a:off x="11829142" y="6335037"/>
            <a:ext cx="3630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4</a:t>
            </a:r>
            <a:endParaRPr/>
          </a:p>
        </p:txBody>
      </p:sp>
      <p:sp>
        <p:nvSpPr>
          <p:cNvPr id="177" name="Google Shape;177;g3c9befa48df_1_0"/>
          <p:cNvSpPr txBox="1"/>
          <p:nvPr/>
        </p:nvSpPr>
        <p:spPr>
          <a:xfrm>
            <a:off x="5609850" y="520500"/>
            <a:ext cx="4839000" cy="61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fr-FR" sz="3400">
                <a:solidFill>
                  <a:schemeClr val="dk1"/>
                </a:solidFill>
              </a:rPr>
              <a:t>Équilibrage</a:t>
            </a:r>
            <a:endParaRPr b="1" sz="4200">
              <a:solidFill>
                <a:schemeClr val="dk1"/>
              </a:solidFill>
              <a:latin typeface="Arial"/>
              <a:ea typeface="Arial"/>
              <a:cs typeface="Arial"/>
              <a:sym typeface="Arial"/>
            </a:endParaRPr>
          </a:p>
        </p:txBody>
      </p:sp>
      <p:sp>
        <p:nvSpPr>
          <p:cNvPr id="178" name="Google Shape;178;g3c9befa48df_1_0"/>
          <p:cNvSpPr txBox="1"/>
          <p:nvPr/>
        </p:nvSpPr>
        <p:spPr>
          <a:xfrm>
            <a:off x="5937399" y="1765450"/>
            <a:ext cx="4694100" cy="3001500"/>
          </a:xfrm>
          <a:prstGeom prst="rect">
            <a:avLst/>
          </a:prstGeom>
          <a:noFill/>
          <a:ln>
            <a:noFill/>
          </a:ln>
        </p:spPr>
        <p:txBody>
          <a:bodyPr anchorCtr="0" anchor="t" bIns="45700" lIns="91425" spcFirstLastPara="1" rIns="91425" wrap="square" tIns="45700">
            <a:spAutoFit/>
          </a:bodyPr>
          <a:lstStyle/>
          <a:p>
            <a:pPr indent="-406400" lvl="0" marL="457200" rtl="0" algn="l">
              <a:lnSpc>
                <a:spcPct val="115000"/>
              </a:lnSpc>
              <a:spcBef>
                <a:spcPts val="0"/>
              </a:spcBef>
              <a:spcAft>
                <a:spcPts val="0"/>
              </a:spcAft>
              <a:buClr>
                <a:schemeClr val="dk1"/>
              </a:buClr>
              <a:buSzPts val="2800"/>
              <a:buChar char="-"/>
            </a:pPr>
            <a:r>
              <a:rPr lang="fr-FR" sz="2800">
                <a:solidFill>
                  <a:schemeClr val="dk1"/>
                </a:solidFill>
              </a:rPr>
              <a:t>Le lapin a 3x plus faim</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Il faut 5 secondes pour </a:t>
            </a:r>
            <a:r>
              <a:rPr lang="fr-FR" sz="2800">
                <a:solidFill>
                  <a:schemeClr val="dk1"/>
                </a:solidFill>
              </a:rPr>
              <a:t>entrer</a:t>
            </a:r>
            <a:r>
              <a:rPr lang="fr-FR" sz="2800">
                <a:solidFill>
                  <a:schemeClr val="dk1"/>
                </a:solidFill>
              </a:rPr>
              <a:t> et pour sortir</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Les portes sont </a:t>
            </a:r>
            <a:r>
              <a:rPr lang="fr-FR" sz="2800">
                <a:solidFill>
                  <a:schemeClr val="dk1"/>
                </a:solidFill>
              </a:rPr>
              <a:t>dispersé</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Le temps compte</a:t>
            </a:r>
            <a:endParaRPr sz="2800">
              <a:solidFill>
                <a:schemeClr val="dk1"/>
              </a:solidFill>
            </a:endParaRPr>
          </a:p>
          <a:p>
            <a:pPr indent="0" lvl="0" marL="0" rtl="0" algn="l">
              <a:spcBef>
                <a:spcPts val="0"/>
              </a:spcBef>
              <a:spcAft>
                <a:spcPts val="0"/>
              </a:spcAft>
              <a:buNone/>
            </a:pPr>
            <a:r>
              <a:t/>
            </a:r>
            <a:endParaRPr sz="2800">
              <a:solidFill>
                <a:schemeClr val="dk1"/>
              </a:solidFill>
            </a:endParaRPr>
          </a:p>
        </p:txBody>
      </p:sp>
      <p:pic>
        <p:nvPicPr>
          <p:cNvPr descr="Lapin avec un remplissage uni" id="179" name="Google Shape;179;g3c9befa48df_1_0"/>
          <p:cNvPicPr preferRelativeResize="0"/>
          <p:nvPr/>
        </p:nvPicPr>
        <p:blipFill rotWithShape="1">
          <a:blip r:embed="rId3">
            <a:alphaModFix/>
          </a:blip>
          <a:srcRect b="0" l="0" r="0" t="0"/>
          <a:stretch/>
        </p:blipFill>
        <p:spPr>
          <a:xfrm>
            <a:off x="0" y="4580855"/>
            <a:ext cx="1397380" cy="1397380"/>
          </a:xfrm>
          <a:prstGeom prst="rect">
            <a:avLst/>
          </a:prstGeom>
          <a:noFill/>
          <a:ln>
            <a:noFill/>
          </a:ln>
        </p:spPr>
      </p:pic>
      <p:pic>
        <p:nvPicPr>
          <p:cNvPr id="180" name="Google Shape;180;g3c9befa48df_1_0"/>
          <p:cNvPicPr preferRelativeResize="0"/>
          <p:nvPr/>
        </p:nvPicPr>
        <p:blipFill>
          <a:blip r:embed="rId4">
            <a:alphaModFix/>
          </a:blip>
          <a:stretch>
            <a:fillRect/>
          </a:stretch>
        </p:blipFill>
        <p:spPr>
          <a:xfrm>
            <a:off x="486475" y="687975"/>
            <a:ext cx="4839000" cy="389287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g3c93084ca21_0_9" title="RobloxScreenShot20260218_220109585.png"/>
          <p:cNvPicPr preferRelativeResize="0"/>
          <p:nvPr/>
        </p:nvPicPr>
        <p:blipFill>
          <a:blip r:embed="rId3">
            <a:alphaModFix/>
          </a:blip>
          <a:stretch>
            <a:fillRect/>
          </a:stretch>
        </p:blipFill>
        <p:spPr>
          <a:xfrm>
            <a:off x="-306150" y="1"/>
            <a:ext cx="13244112"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g3c91ace5969_2_1" title="RobloxScreenShot20260218_220045388.png"/>
          <p:cNvPicPr preferRelativeResize="0"/>
          <p:nvPr/>
        </p:nvPicPr>
        <p:blipFill>
          <a:blip r:embed="rId3">
            <a:alphaModFix/>
          </a:blip>
          <a:stretch>
            <a:fillRect/>
          </a:stretch>
        </p:blipFill>
        <p:spPr>
          <a:xfrm>
            <a:off x="-323150" y="0"/>
            <a:ext cx="13244102"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c91ace5969_2_17"/>
          <p:cNvSpPr/>
          <p:nvPr/>
        </p:nvSpPr>
        <p:spPr>
          <a:xfrm>
            <a:off x="11674200" y="1413749"/>
            <a:ext cx="672900" cy="4564500"/>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 name="Google Shape;199;g3c91ace5969_2_17"/>
          <p:cNvSpPr/>
          <p:nvPr/>
        </p:nvSpPr>
        <p:spPr>
          <a:xfrm>
            <a:off x="10056759" y="101103"/>
            <a:ext cx="3907800" cy="17469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0" name="Google Shape;200;g3c91ace5969_2_17"/>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1" name="Google Shape;201;g3c91ace5969_2_17"/>
          <p:cNvSpPr txBox="1"/>
          <p:nvPr/>
        </p:nvSpPr>
        <p:spPr>
          <a:xfrm>
            <a:off x="11829142" y="6335037"/>
            <a:ext cx="3630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4</a:t>
            </a:r>
            <a:endParaRPr/>
          </a:p>
        </p:txBody>
      </p:sp>
      <p:sp>
        <p:nvSpPr>
          <p:cNvPr id="202" name="Google Shape;202;g3c91ace5969_2_17"/>
          <p:cNvSpPr txBox="1"/>
          <p:nvPr/>
        </p:nvSpPr>
        <p:spPr>
          <a:xfrm>
            <a:off x="341450" y="535650"/>
            <a:ext cx="4839000" cy="61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fr-FR" sz="3400">
                <a:solidFill>
                  <a:schemeClr val="dk1"/>
                </a:solidFill>
              </a:rPr>
              <a:t>Cachette (Buisson)</a:t>
            </a:r>
            <a:endParaRPr b="1" sz="4200">
              <a:solidFill>
                <a:schemeClr val="dk1"/>
              </a:solidFill>
              <a:latin typeface="Arial"/>
              <a:ea typeface="Arial"/>
              <a:cs typeface="Arial"/>
              <a:sym typeface="Arial"/>
            </a:endParaRPr>
          </a:p>
        </p:txBody>
      </p:sp>
      <p:sp>
        <p:nvSpPr>
          <p:cNvPr id="203" name="Google Shape;203;g3c91ace5969_2_17"/>
          <p:cNvSpPr txBox="1"/>
          <p:nvPr/>
        </p:nvSpPr>
        <p:spPr>
          <a:xfrm>
            <a:off x="668999" y="1763600"/>
            <a:ext cx="4694100" cy="2505900"/>
          </a:xfrm>
          <a:prstGeom prst="rect">
            <a:avLst/>
          </a:prstGeom>
          <a:noFill/>
          <a:ln>
            <a:noFill/>
          </a:ln>
        </p:spPr>
        <p:txBody>
          <a:bodyPr anchorCtr="0" anchor="t" bIns="45700" lIns="91425" spcFirstLastPara="1" rIns="91425" wrap="square" tIns="45700">
            <a:spAutoFit/>
          </a:bodyPr>
          <a:lstStyle/>
          <a:p>
            <a:pPr indent="-406400" lvl="0" marL="457200" marR="0" rtl="0" algn="l">
              <a:lnSpc>
                <a:spcPct val="115000"/>
              </a:lnSpc>
              <a:spcBef>
                <a:spcPts val="0"/>
              </a:spcBef>
              <a:spcAft>
                <a:spcPts val="0"/>
              </a:spcAft>
              <a:buClr>
                <a:schemeClr val="dk1"/>
              </a:buClr>
              <a:buSzPts val="2800"/>
              <a:buChar char="-"/>
            </a:pPr>
            <a:r>
              <a:rPr lang="fr-FR" sz="2800">
                <a:solidFill>
                  <a:schemeClr val="dk1"/>
                </a:solidFill>
              </a:rPr>
              <a:t>Cachette pour le lapin</a:t>
            </a:r>
            <a:endParaRPr sz="2800">
              <a:solidFill>
                <a:schemeClr val="dk1"/>
              </a:solidFill>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Actuellement un buisson</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Équilibrage pour ne pas être trop fort</a:t>
            </a:r>
            <a:endParaRPr sz="2800">
              <a:solidFill>
                <a:schemeClr val="dk1"/>
              </a:solidFill>
            </a:endParaRPr>
          </a:p>
          <a:p>
            <a:pPr indent="0" lvl="0" marL="0" rtl="0" algn="l">
              <a:spcBef>
                <a:spcPts val="0"/>
              </a:spcBef>
              <a:spcAft>
                <a:spcPts val="0"/>
              </a:spcAft>
              <a:buNone/>
            </a:pPr>
            <a:r>
              <a:t/>
            </a:r>
            <a:endParaRPr sz="2800">
              <a:solidFill>
                <a:schemeClr val="dk1"/>
              </a:solidFill>
            </a:endParaRPr>
          </a:p>
        </p:txBody>
      </p:sp>
      <p:pic>
        <p:nvPicPr>
          <p:cNvPr descr="Lapin avec un remplissage uni" id="204" name="Google Shape;204;g3c91ace5969_2_17"/>
          <p:cNvPicPr preferRelativeResize="0"/>
          <p:nvPr/>
        </p:nvPicPr>
        <p:blipFill rotWithShape="1">
          <a:blip r:embed="rId3">
            <a:alphaModFix/>
          </a:blip>
          <a:srcRect b="0" l="0" r="0" t="0"/>
          <a:stretch/>
        </p:blipFill>
        <p:spPr>
          <a:xfrm>
            <a:off x="0" y="4580855"/>
            <a:ext cx="1397380" cy="1397380"/>
          </a:xfrm>
          <a:prstGeom prst="rect">
            <a:avLst/>
          </a:prstGeom>
          <a:noFill/>
          <a:ln>
            <a:noFill/>
          </a:ln>
        </p:spPr>
      </p:pic>
      <p:sp>
        <p:nvSpPr>
          <p:cNvPr id="205" name="Google Shape;205;g3c91ace5969_2_17"/>
          <p:cNvSpPr txBox="1"/>
          <p:nvPr/>
        </p:nvSpPr>
        <p:spPr>
          <a:xfrm>
            <a:off x="6564750" y="3035888"/>
            <a:ext cx="39078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fr-FR" sz="2800">
                <a:solidFill>
                  <a:schemeClr val="dk1"/>
                </a:solidFill>
              </a:rPr>
              <a:t>Faire vidéo cachette</a:t>
            </a:r>
            <a:endParaRPr sz="2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c9c09ffa22_1_7"/>
          <p:cNvSpPr/>
          <p:nvPr/>
        </p:nvSpPr>
        <p:spPr>
          <a:xfrm>
            <a:off x="11674200" y="1413749"/>
            <a:ext cx="672900" cy="4564500"/>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2" name="Google Shape;212;g3c9c09ffa22_1_7"/>
          <p:cNvSpPr/>
          <p:nvPr/>
        </p:nvSpPr>
        <p:spPr>
          <a:xfrm>
            <a:off x="10056759" y="101103"/>
            <a:ext cx="3907800" cy="17469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3" name="Google Shape;213;g3c9c09ffa22_1_7"/>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4" name="Google Shape;214;g3c9c09ffa22_1_7"/>
          <p:cNvSpPr txBox="1"/>
          <p:nvPr/>
        </p:nvSpPr>
        <p:spPr>
          <a:xfrm>
            <a:off x="11829142" y="6335037"/>
            <a:ext cx="3630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4</a:t>
            </a:r>
            <a:endParaRPr/>
          </a:p>
        </p:txBody>
      </p:sp>
      <p:sp>
        <p:nvSpPr>
          <p:cNvPr id="215" name="Google Shape;215;g3c9c09ffa22_1_7"/>
          <p:cNvSpPr txBox="1"/>
          <p:nvPr/>
        </p:nvSpPr>
        <p:spPr>
          <a:xfrm>
            <a:off x="341450" y="535650"/>
            <a:ext cx="4839000" cy="615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b="1" lang="fr-FR" sz="3400">
                <a:solidFill>
                  <a:schemeClr val="dk1"/>
                </a:solidFill>
              </a:rPr>
              <a:t>Calcul de poids</a:t>
            </a:r>
            <a:endParaRPr b="1" sz="3400">
              <a:solidFill>
                <a:schemeClr val="dk1"/>
              </a:solidFill>
            </a:endParaRPr>
          </a:p>
        </p:txBody>
      </p:sp>
      <p:sp>
        <p:nvSpPr>
          <p:cNvPr id="216" name="Google Shape;216;g3c9c09ffa22_1_7"/>
          <p:cNvSpPr txBox="1"/>
          <p:nvPr/>
        </p:nvSpPr>
        <p:spPr>
          <a:xfrm>
            <a:off x="669000" y="1763600"/>
            <a:ext cx="8859600" cy="3497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b="1" lang="fr-FR" sz="2800">
                <a:solidFill>
                  <a:schemeClr val="dk1"/>
                </a:solidFill>
              </a:rPr>
              <a:t>Le problème</a:t>
            </a:r>
            <a:endParaRPr b="1" sz="2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FR" sz="2800">
                <a:solidFill>
                  <a:schemeClr val="dk1"/>
                </a:solidFill>
              </a:rPr>
              <a:t>BT = choix statique (oui/non)</a:t>
            </a:r>
            <a:endParaRPr sz="28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fr-FR" sz="2800">
                <a:solidFill>
                  <a:schemeClr val="dk1"/>
                </a:solidFill>
              </a:rPr>
              <a:t>Solution</a:t>
            </a:r>
            <a:endParaRPr b="1" sz="2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FR" sz="2800">
                <a:solidFill>
                  <a:schemeClr val="dk1"/>
                </a:solidFill>
              </a:rPr>
              <a:t>Utility : prise de décision basée sur l’évaluation de chaque action</a:t>
            </a:r>
            <a:br>
              <a:rPr lang="fr-FR" sz="2800">
                <a:solidFill>
                  <a:schemeClr val="dk1"/>
                </a:solidFill>
              </a:rPr>
            </a:br>
            <a:r>
              <a:rPr lang="fr-FR" sz="2800">
                <a:solidFill>
                  <a:schemeClr val="dk1"/>
                </a:solidFill>
              </a:rPr>
              <a:t> Chaque action reçoit un score</a:t>
            </a:r>
            <a:endParaRPr sz="2800">
              <a:solidFill>
                <a:schemeClr val="dk1"/>
              </a:solidFill>
            </a:endParaRPr>
          </a:p>
          <a:p>
            <a:pPr indent="0" lvl="0" marL="0" rtl="0" algn="l">
              <a:spcBef>
                <a:spcPts val="0"/>
              </a:spcBef>
              <a:spcAft>
                <a:spcPts val="0"/>
              </a:spcAft>
              <a:buNone/>
            </a:pPr>
            <a:r>
              <a:t/>
            </a:r>
            <a:endParaRPr sz="2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c7bd57e04d_3_10"/>
          <p:cNvSpPr/>
          <p:nvPr/>
        </p:nvSpPr>
        <p:spPr>
          <a:xfrm>
            <a:off x="10920778" y="266974"/>
            <a:ext cx="672900" cy="5727300"/>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3" name="Google Shape;223;g3c7bd57e04d_3_10"/>
          <p:cNvSpPr/>
          <p:nvPr/>
        </p:nvSpPr>
        <p:spPr>
          <a:xfrm>
            <a:off x="9303325" y="991750"/>
            <a:ext cx="3907800" cy="1606500"/>
          </a:xfrm>
          <a:prstGeom prst="rect">
            <a:avLst/>
          </a:prstGeom>
          <a:solidFill>
            <a:srgbClr val="A11D0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4" name="Google Shape;224;g3c7bd57e04d_3_10"/>
          <p:cNvSpPr/>
          <p:nvPr/>
        </p:nvSpPr>
        <p:spPr>
          <a:xfrm>
            <a:off x="9657325" y="-360425"/>
            <a:ext cx="3199800" cy="1182300"/>
          </a:xfrm>
          <a:prstGeom prst="rect">
            <a:avLst/>
          </a:prstGeom>
          <a:solidFill>
            <a:srgbClr val="A11D0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5" name="Google Shape;225;g3c7bd57e04d_3_10"/>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6" name="Google Shape;226;g3c7bd57e04d_3_10"/>
          <p:cNvSpPr txBox="1"/>
          <p:nvPr/>
        </p:nvSpPr>
        <p:spPr>
          <a:xfrm>
            <a:off x="11829142" y="6335037"/>
            <a:ext cx="3630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5</a:t>
            </a:r>
            <a:endParaRPr/>
          </a:p>
        </p:txBody>
      </p:sp>
      <p:sp>
        <p:nvSpPr>
          <p:cNvPr id="227" name="Google Shape;227;g3c7bd57e04d_3_10"/>
          <p:cNvSpPr txBox="1"/>
          <p:nvPr/>
        </p:nvSpPr>
        <p:spPr>
          <a:xfrm>
            <a:off x="341450" y="535650"/>
            <a:ext cx="4839000" cy="61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fr-FR" sz="3400">
                <a:solidFill>
                  <a:schemeClr val="dk1"/>
                </a:solidFill>
              </a:rPr>
              <a:t>Utility</a:t>
            </a:r>
            <a:endParaRPr b="1" sz="4200">
              <a:solidFill>
                <a:schemeClr val="dk1"/>
              </a:solidFill>
              <a:latin typeface="Arial"/>
              <a:ea typeface="Arial"/>
              <a:cs typeface="Arial"/>
              <a:sym typeface="Arial"/>
            </a:endParaRPr>
          </a:p>
        </p:txBody>
      </p:sp>
      <p:sp>
        <p:nvSpPr>
          <p:cNvPr id="228" name="Google Shape;228;g3c7bd57e04d_3_10"/>
          <p:cNvSpPr txBox="1"/>
          <p:nvPr/>
        </p:nvSpPr>
        <p:spPr>
          <a:xfrm>
            <a:off x="430925" y="1151250"/>
            <a:ext cx="9951600" cy="5017800"/>
          </a:xfrm>
          <a:prstGeom prst="rect">
            <a:avLst/>
          </a:prstGeom>
          <a:noFill/>
          <a:ln>
            <a:noFill/>
          </a:ln>
        </p:spPr>
        <p:txBody>
          <a:bodyPr anchorCtr="0" anchor="t" bIns="45700" lIns="91425" spcFirstLastPara="1" rIns="91425" wrap="square" tIns="45700">
            <a:spAutoFit/>
          </a:bodyPr>
          <a:lstStyle/>
          <a:p>
            <a:pPr indent="0" lvl="0" marL="0" rtl="0" algn="just">
              <a:lnSpc>
                <a:spcPct val="100000"/>
              </a:lnSpc>
              <a:spcBef>
                <a:spcPts val="1200"/>
              </a:spcBef>
              <a:spcAft>
                <a:spcPts val="0"/>
              </a:spcAft>
              <a:buClr>
                <a:schemeClr val="dk1"/>
              </a:buClr>
              <a:buSzPts val="1100"/>
              <a:buFont typeface="Arial"/>
              <a:buNone/>
            </a:pPr>
            <a:r>
              <a:rPr lang="fr-FR" sz="2800">
                <a:solidFill>
                  <a:schemeClr val="dk1"/>
                </a:solidFill>
              </a:rPr>
              <a:t>Concentration seulement sur quelques attributs :</a:t>
            </a:r>
            <a:endParaRPr sz="2800">
              <a:solidFill>
                <a:schemeClr val="dk1"/>
              </a:solidFill>
            </a:endParaRPr>
          </a:p>
          <a:p>
            <a:pPr indent="-406400" lvl="0" marL="457200" rtl="0" algn="just">
              <a:lnSpc>
                <a:spcPct val="100000"/>
              </a:lnSpc>
              <a:spcBef>
                <a:spcPts val="1200"/>
              </a:spcBef>
              <a:spcAft>
                <a:spcPts val="0"/>
              </a:spcAft>
              <a:buClr>
                <a:schemeClr val="dk1"/>
              </a:buClr>
              <a:buSzPts val="2800"/>
              <a:buChar char="-"/>
            </a:pPr>
            <a:r>
              <a:rPr lang="fr-FR" sz="2800">
                <a:solidFill>
                  <a:schemeClr val="dk1"/>
                </a:solidFill>
              </a:rPr>
              <a:t>Balles chargeur</a:t>
            </a:r>
            <a:endParaRPr sz="2800">
              <a:solidFill>
                <a:schemeClr val="dk1"/>
              </a:solidFill>
            </a:endParaRPr>
          </a:p>
          <a:p>
            <a:pPr indent="-406400" lvl="0" marL="457200" rtl="0" algn="just">
              <a:lnSpc>
                <a:spcPct val="100000"/>
              </a:lnSpc>
              <a:spcBef>
                <a:spcPts val="0"/>
              </a:spcBef>
              <a:spcAft>
                <a:spcPts val="0"/>
              </a:spcAft>
              <a:buClr>
                <a:schemeClr val="dk1"/>
              </a:buClr>
              <a:buSzPts val="2800"/>
              <a:buChar char="-"/>
            </a:pPr>
            <a:r>
              <a:rPr lang="fr-FR" sz="2800">
                <a:solidFill>
                  <a:schemeClr val="dk1"/>
                </a:solidFill>
              </a:rPr>
              <a:t>Fatigue</a:t>
            </a:r>
            <a:endParaRPr sz="2800">
              <a:solidFill>
                <a:schemeClr val="dk1"/>
              </a:solidFill>
            </a:endParaRPr>
          </a:p>
          <a:p>
            <a:pPr indent="-406400" lvl="0" marL="457200" rtl="0" algn="just">
              <a:lnSpc>
                <a:spcPct val="100000"/>
              </a:lnSpc>
              <a:spcBef>
                <a:spcPts val="0"/>
              </a:spcBef>
              <a:spcAft>
                <a:spcPts val="0"/>
              </a:spcAft>
              <a:buClr>
                <a:schemeClr val="dk1"/>
              </a:buClr>
              <a:buSzPts val="2800"/>
              <a:buChar char="-"/>
            </a:pPr>
            <a:r>
              <a:rPr lang="fr-FR" sz="2800">
                <a:solidFill>
                  <a:schemeClr val="dk1"/>
                </a:solidFill>
              </a:rPr>
              <a:t>Distance du lapin</a:t>
            </a:r>
            <a:endParaRPr sz="2800">
              <a:solidFill>
                <a:schemeClr val="dk1"/>
              </a:solidFill>
            </a:endParaRPr>
          </a:p>
          <a:p>
            <a:pPr indent="-406400" lvl="0" marL="457200" rtl="0" algn="just">
              <a:lnSpc>
                <a:spcPct val="100000"/>
              </a:lnSpc>
              <a:spcBef>
                <a:spcPts val="0"/>
              </a:spcBef>
              <a:spcAft>
                <a:spcPts val="0"/>
              </a:spcAft>
              <a:buClr>
                <a:schemeClr val="dk1"/>
              </a:buClr>
              <a:buSzPts val="2800"/>
              <a:buChar char="-"/>
            </a:pPr>
            <a:r>
              <a:rPr lang="fr-FR" sz="2800">
                <a:solidFill>
                  <a:schemeClr val="dk1"/>
                </a:solidFill>
              </a:rPr>
              <a:t>Stock de pièges</a:t>
            </a:r>
            <a:endParaRPr sz="2800">
              <a:solidFill>
                <a:schemeClr val="dk1"/>
              </a:solidFill>
            </a:endParaRPr>
          </a:p>
          <a:p>
            <a:pPr indent="0" lvl="0" marL="0" rtl="0" algn="just">
              <a:lnSpc>
                <a:spcPct val="100000"/>
              </a:lnSpc>
              <a:spcBef>
                <a:spcPts val="1200"/>
              </a:spcBef>
              <a:spcAft>
                <a:spcPts val="0"/>
              </a:spcAft>
              <a:buClr>
                <a:schemeClr val="dk1"/>
              </a:buClr>
              <a:buSzPts val="1100"/>
              <a:buFont typeface="Arial"/>
              <a:buNone/>
            </a:pPr>
            <a:r>
              <a:rPr lang="fr-FR" sz="2800">
                <a:solidFill>
                  <a:schemeClr val="dk1"/>
                </a:solidFill>
              </a:rPr>
              <a:t>Ainsi que seulement sur trois actions :</a:t>
            </a:r>
            <a:endParaRPr sz="2800">
              <a:solidFill>
                <a:schemeClr val="dk1"/>
              </a:solidFill>
            </a:endParaRPr>
          </a:p>
          <a:p>
            <a:pPr indent="-406400" lvl="0" marL="457200" rtl="0" algn="just">
              <a:lnSpc>
                <a:spcPct val="100000"/>
              </a:lnSpc>
              <a:spcBef>
                <a:spcPts val="1200"/>
              </a:spcBef>
              <a:spcAft>
                <a:spcPts val="0"/>
              </a:spcAft>
              <a:buClr>
                <a:schemeClr val="dk1"/>
              </a:buClr>
              <a:buSzPts val="2800"/>
              <a:buChar char="-"/>
            </a:pPr>
            <a:r>
              <a:rPr lang="fr-FR" sz="2800">
                <a:solidFill>
                  <a:schemeClr val="dk1"/>
                </a:solidFill>
              </a:rPr>
              <a:t>Tirer</a:t>
            </a:r>
            <a:endParaRPr sz="2800">
              <a:solidFill>
                <a:schemeClr val="dk1"/>
              </a:solidFill>
            </a:endParaRPr>
          </a:p>
          <a:p>
            <a:pPr indent="-406400" lvl="0" marL="457200" rtl="0" algn="just">
              <a:lnSpc>
                <a:spcPct val="100000"/>
              </a:lnSpc>
              <a:spcBef>
                <a:spcPts val="0"/>
              </a:spcBef>
              <a:spcAft>
                <a:spcPts val="0"/>
              </a:spcAft>
              <a:buClr>
                <a:schemeClr val="dk1"/>
              </a:buClr>
              <a:buSzPts val="2800"/>
              <a:buChar char="-"/>
            </a:pPr>
            <a:r>
              <a:rPr lang="fr-FR" sz="2800">
                <a:solidFill>
                  <a:schemeClr val="dk1"/>
                </a:solidFill>
              </a:rPr>
              <a:t>Recharger</a:t>
            </a:r>
            <a:endParaRPr sz="2800">
              <a:solidFill>
                <a:schemeClr val="dk1"/>
              </a:solidFill>
            </a:endParaRPr>
          </a:p>
          <a:p>
            <a:pPr indent="-406400" lvl="0" marL="457200" rtl="0" algn="just">
              <a:lnSpc>
                <a:spcPct val="100000"/>
              </a:lnSpc>
              <a:spcBef>
                <a:spcPts val="0"/>
              </a:spcBef>
              <a:spcAft>
                <a:spcPts val="0"/>
              </a:spcAft>
              <a:buClr>
                <a:schemeClr val="dk1"/>
              </a:buClr>
              <a:buSzPts val="2800"/>
              <a:buChar char="-"/>
            </a:pPr>
            <a:r>
              <a:rPr lang="fr-FR" sz="2800">
                <a:solidFill>
                  <a:schemeClr val="dk1"/>
                </a:solidFill>
              </a:rPr>
              <a:t>Poser piège</a:t>
            </a:r>
            <a:endParaRPr sz="2800">
              <a:solidFill>
                <a:schemeClr val="dk1"/>
              </a:solidFill>
            </a:endParaRPr>
          </a:p>
          <a:p>
            <a:pPr indent="0" lvl="0" marL="0" marR="0" rtl="0" algn="l">
              <a:spcBef>
                <a:spcPts val="1200"/>
              </a:spcBef>
              <a:spcAft>
                <a:spcPts val="0"/>
              </a:spcAft>
              <a:buNone/>
            </a:pPr>
            <a:r>
              <a:t/>
            </a:r>
            <a:endParaRPr sz="2800">
              <a:solidFill>
                <a:schemeClr val="dk1"/>
              </a:solidFill>
            </a:endParaRPr>
          </a:p>
        </p:txBody>
      </p:sp>
      <p:pic>
        <p:nvPicPr>
          <p:cNvPr descr="Papillon avec un remplissage uni" id="229" name="Google Shape;229;g3c7bd57e04d_3_10"/>
          <p:cNvPicPr preferRelativeResize="0"/>
          <p:nvPr/>
        </p:nvPicPr>
        <p:blipFill rotWithShape="1">
          <a:blip r:embed="rId3">
            <a:alphaModFix/>
          </a:blip>
          <a:srcRect b="0" l="0" r="0" t="0"/>
          <a:stretch/>
        </p:blipFill>
        <p:spPr>
          <a:xfrm rot="-3316091">
            <a:off x="7038827" y="57820"/>
            <a:ext cx="914400" cy="914400"/>
          </a:xfrm>
          <a:prstGeom prst="rect">
            <a:avLst/>
          </a:prstGeom>
          <a:noFill/>
          <a:ln>
            <a:noFill/>
          </a:ln>
        </p:spPr>
      </p:pic>
      <p:pic>
        <p:nvPicPr>
          <p:cNvPr descr="Rose avec un remplissage uni" id="230" name="Google Shape;230;g3c7bd57e04d_3_10"/>
          <p:cNvPicPr preferRelativeResize="0"/>
          <p:nvPr/>
        </p:nvPicPr>
        <p:blipFill rotWithShape="1">
          <a:blip r:embed="rId4">
            <a:alphaModFix/>
          </a:blip>
          <a:srcRect b="0" l="0" r="0" t="0"/>
          <a:stretch/>
        </p:blipFill>
        <p:spPr>
          <a:xfrm>
            <a:off x="4342939" y="4848233"/>
            <a:ext cx="914400" cy="914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c91ace5969_2_32"/>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7" name="Google Shape;237;g3c91ace5969_2_32"/>
          <p:cNvSpPr txBox="1"/>
          <p:nvPr/>
        </p:nvSpPr>
        <p:spPr>
          <a:xfrm>
            <a:off x="11829142" y="6335037"/>
            <a:ext cx="3630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5</a:t>
            </a:r>
            <a:endParaRPr/>
          </a:p>
        </p:txBody>
      </p:sp>
      <p:sp>
        <p:nvSpPr>
          <p:cNvPr id="238" name="Google Shape;238;g3c91ace5969_2_32"/>
          <p:cNvSpPr txBox="1"/>
          <p:nvPr/>
        </p:nvSpPr>
        <p:spPr>
          <a:xfrm>
            <a:off x="341450" y="535650"/>
            <a:ext cx="4839000" cy="61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fr-FR" sz="3400">
                <a:solidFill>
                  <a:schemeClr val="dk1"/>
                </a:solidFill>
              </a:rPr>
              <a:t>Tirer</a:t>
            </a:r>
            <a:endParaRPr b="1" sz="4200">
              <a:solidFill>
                <a:schemeClr val="dk1"/>
              </a:solidFill>
              <a:latin typeface="Arial"/>
              <a:ea typeface="Arial"/>
              <a:cs typeface="Arial"/>
              <a:sym typeface="Arial"/>
            </a:endParaRPr>
          </a:p>
        </p:txBody>
      </p:sp>
      <p:sp>
        <p:nvSpPr>
          <p:cNvPr id="239" name="Google Shape;239;g3c91ace5969_2_32"/>
          <p:cNvSpPr txBox="1"/>
          <p:nvPr/>
        </p:nvSpPr>
        <p:spPr>
          <a:xfrm>
            <a:off x="207000" y="1328875"/>
            <a:ext cx="11778000" cy="42561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None/>
            </a:pPr>
            <a:r>
              <a:rPr lang="fr-FR" sz="2200">
                <a:solidFill>
                  <a:schemeClr val="dk1"/>
                </a:solidFill>
              </a:rPr>
              <a:t>Utility(Tir) = Utility(BalleChargeur)*max(0,Utility(InverseDistance)-Utility(Fatigue))</a:t>
            </a:r>
            <a:endParaRPr sz="3400">
              <a:solidFill>
                <a:schemeClr val="dk1"/>
              </a:solidFill>
            </a:endParaRPr>
          </a:p>
          <a:p>
            <a:pPr indent="-444500" lvl="0" marL="457200" rtl="0" algn="just">
              <a:lnSpc>
                <a:spcPct val="115000"/>
              </a:lnSpc>
              <a:spcBef>
                <a:spcPts val="1200"/>
              </a:spcBef>
              <a:spcAft>
                <a:spcPts val="0"/>
              </a:spcAft>
              <a:buClr>
                <a:schemeClr val="dk1"/>
              </a:buClr>
              <a:buSzPts val="3400"/>
              <a:buChar char="-"/>
            </a:pPr>
            <a:r>
              <a:rPr b="1" lang="fr-FR" sz="2200">
                <a:solidFill>
                  <a:schemeClr val="dk1"/>
                </a:solidFill>
              </a:rPr>
              <a:t>Balles chargeurs</a:t>
            </a:r>
            <a:r>
              <a:rPr lang="fr-FR" sz="2200">
                <a:solidFill>
                  <a:schemeClr val="dk1"/>
                </a:solidFill>
              </a:rPr>
              <a:t> : elles diminuent quand le chasseur tire et augmentent quand le chasseur recharge. </a:t>
            </a:r>
            <a:endParaRPr sz="2200">
              <a:solidFill>
                <a:schemeClr val="dk1"/>
              </a:solidFill>
            </a:endParaRPr>
          </a:p>
          <a:p>
            <a:pPr indent="-444500" lvl="0" marL="457200" rtl="0" algn="just">
              <a:lnSpc>
                <a:spcPct val="115000"/>
              </a:lnSpc>
              <a:spcBef>
                <a:spcPts val="0"/>
              </a:spcBef>
              <a:spcAft>
                <a:spcPts val="0"/>
              </a:spcAft>
              <a:buClr>
                <a:schemeClr val="dk1"/>
              </a:buClr>
              <a:buSzPts val="3400"/>
              <a:buChar char="-"/>
            </a:pPr>
            <a:r>
              <a:rPr b="1" lang="fr-FR" sz="2200">
                <a:solidFill>
                  <a:schemeClr val="dk1"/>
                </a:solidFill>
              </a:rPr>
              <a:t>Inverse Distance</a:t>
            </a:r>
            <a:r>
              <a:rPr lang="fr-FR" sz="2200">
                <a:solidFill>
                  <a:schemeClr val="dk1"/>
                </a:solidFill>
              </a:rPr>
              <a:t> : plus le lapin est proche, plus la valeur est faible, et si jamais le lapin est trop loin, la valeur est à 1.</a:t>
            </a:r>
            <a:endParaRPr sz="2200">
              <a:solidFill>
                <a:schemeClr val="dk1"/>
              </a:solidFill>
            </a:endParaRPr>
          </a:p>
          <a:p>
            <a:pPr indent="-444500" lvl="0" marL="457200" rtl="0" algn="just">
              <a:lnSpc>
                <a:spcPct val="115000"/>
              </a:lnSpc>
              <a:spcBef>
                <a:spcPts val="0"/>
              </a:spcBef>
              <a:spcAft>
                <a:spcPts val="0"/>
              </a:spcAft>
              <a:buClr>
                <a:schemeClr val="dk1"/>
              </a:buClr>
              <a:buSzPts val="3400"/>
              <a:buChar char="-"/>
            </a:pPr>
            <a:r>
              <a:rPr b="1" lang="fr-FR" sz="2200">
                <a:solidFill>
                  <a:schemeClr val="dk1"/>
                </a:solidFill>
              </a:rPr>
              <a:t>Fatigue</a:t>
            </a:r>
            <a:r>
              <a:rPr lang="fr-FR" sz="2200">
                <a:solidFill>
                  <a:schemeClr val="dk1"/>
                </a:solidFill>
              </a:rPr>
              <a:t>: le plus difficile à attribuer. On veut que certaines actions diminuent la valeur et certaines augmentent.</a:t>
            </a:r>
            <a:endParaRPr sz="3400">
              <a:solidFill>
                <a:schemeClr val="dk1"/>
              </a:solidFill>
            </a:endParaRPr>
          </a:p>
          <a:p>
            <a:pPr indent="0" lvl="0" marL="0" marR="0" rtl="0" algn="l">
              <a:spcBef>
                <a:spcPts val="1200"/>
              </a:spcBef>
              <a:spcAft>
                <a:spcPts val="0"/>
              </a:spcAft>
              <a:buNone/>
            </a:pPr>
            <a:r>
              <a:t/>
            </a:r>
            <a:endParaRPr sz="3200">
              <a:solidFill>
                <a:schemeClr val="dk1"/>
              </a:solidFill>
            </a:endParaRPr>
          </a:p>
        </p:txBody>
      </p:sp>
      <p:pic>
        <p:nvPicPr>
          <p:cNvPr descr="Papillon avec un remplissage uni" id="240" name="Google Shape;240;g3c91ace5969_2_32"/>
          <p:cNvPicPr preferRelativeResize="0"/>
          <p:nvPr/>
        </p:nvPicPr>
        <p:blipFill rotWithShape="1">
          <a:blip r:embed="rId3">
            <a:alphaModFix/>
          </a:blip>
          <a:srcRect b="0" l="0" r="0" t="0"/>
          <a:stretch/>
        </p:blipFill>
        <p:spPr>
          <a:xfrm rot="-3316091">
            <a:off x="10814802" y="57795"/>
            <a:ext cx="914400" cy="914400"/>
          </a:xfrm>
          <a:prstGeom prst="rect">
            <a:avLst/>
          </a:prstGeom>
          <a:noFill/>
          <a:ln>
            <a:noFill/>
          </a:ln>
        </p:spPr>
      </p:pic>
      <p:pic>
        <p:nvPicPr>
          <p:cNvPr descr="Rose avec un remplissage uni" id="241" name="Google Shape;241;g3c91ace5969_2_32"/>
          <p:cNvPicPr preferRelativeResize="0"/>
          <p:nvPr/>
        </p:nvPicPr>
        <p:blipFill rotWithShape="1">
          <a:blip r:embed="rId4">
            <a:alphaModFix/>
          </a:blip>
          <a:srcRect b="0" l="0" r="0" t="0"/>
          <a:stretch/>
        </p:blipFill>
        <p:spPr>
          <a:xfrm>
            <a:off x="413889" y="4931683"/>
            <a:ext cx="914400" cy="914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g3c91ace5969_2_45"/>
          <p:cNvPicPr preferRelativeResize="0"/>
          <p:nvPr/>
        </p:nvPicPr>
        <p:blipFill>
          <a:blip r:embed="rId3">
            <a:alphaModFix/>
          </a:blip>
          <a:stretch>
            <a:fillRect/>
          </a:stretch>
        </p:blipFill>
        <p:spPr>
          <a:xfrm>
            <a:off x="3215400" y="152400"/>
            <a:ext cx="7833632" cy="5610225"/>
          </a:xfrm>
          <a:prstGeom prst="rect">
            <a:avLst/>
          </a:prstGeom>
          <a:noFill/>
          <a:ln>
            <a:noFill/>
          </a:ln>
        </p:spPr>
      </p:pic>
      <p:sp>
        <p:nvSpPr>
          <p:cNvPr id="248" name="Google Shape;248;g3c91ace5969_2_45"/>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9" name="Google Shape;249;g3c91ace5969_2_45"/>
          <p:cNvSpPr txBox="1"/>
          <p:nvPr/>
        </p:nvSpPr>
        <p:spPr>
          <a:xfrm>
            <a:off x="357375" y="1886213"/>
            <a:ext cx="5260800" cy="2586000"/>
          </a:xfrm>
          <a:prstGeom prst="rect">
            <a:avLst/>
          </a:prstGeom>
          <a:noFill/>
          <a:ln>
            <a:noFill/>
          </a:ln>
        </p:spPr>
        <p:txBody>
          <a:bodyPr anchorCtr="0" anchor="t" bIns="45700" lIns="91425" spcFirstLastPara="1" rIns="91425" wrap="square" tIns="45700">
            <a:spAutoFit/>
          </a:bodyPr>
          <a:lstStyle/>
          <a:p>
            <a:pPr indent="-381000" lvl="0" marL="457200" rtl="0" algn="just">
              <a:lnSpc>
                <a:spcPct val="115000"/>
              </a:lnSpc>
              <a:spcBef>
                <a:spcPts val="1200"/>
              </a:spcBef>
              <a:spcAft>
                <a:spcPts val="0"/>
              </a:spcAft>
              <a:buClr>
                <a:srgbClr val="222222"/>
              </a:buClr>
              <a:buSzPts val="2400"/>
              <a:buChar char="-"/>
            </a:pPr>
            <a:r>
              <a:rPr lang="fr-FR" sz="2400">
                <a:solidFill>
                  <a:srgbClr val="222222"/>
                </a:solidFill>
                <a:highlight>
                  <a:srgbClr val="FFFFFF"/>
                </a:highlight>
              </a:rPr>
              <a:t>Il faut que le chasseur tire, même si son nombre de balles est faible. </a:t>
            </a:r>
            <a:endParaRPr sz="2400">
              <a:solidFill>
                <a:srgbClr val="222222"/>
              </a:solidFill>
              <a:highlight>
                <a:srgbClr val="FFFFFF"/>
              </a:highlight>
            </a:endParaRPr>
          </a:p>
          <a:p>
            <a:pPr indent="-381000" lvl="0" marL="457200" rtl="0" algn="just">
              <a:lnSpc>
                <a:spcPct val="115000"/>
              </a:lnSpc>
              <a:spcBef>
                <a:spcPts val="0"/>
              </a:spcBef>
              <a:spcAft>
                <a:spcPts val="0"/>
              </a:spcAft>
              <a:buClr>
                <a:srgbClr val="222222"/>
              </a:buClr>
              <a:buSzPts val="2400"/>
              <a:buChar char="-"/>
            </a:pPr>
            <a:r>
              <a:rPr lang="fr-FR" sz="2400">
                <a:solidFill>
                  <a:srgbClr val="222222"/>
                </a:solidFill>
                <a:highlight>
                  <a:srgbClr val="FFFFFF"/>
                </a:highlight>
              </a:rPr>
              <a:t>Or avec une courbe ax+b, les chances qu'il ne tire pas sont trop élevées, alors qu'il a encore des balles.</a:t>
            </a:r>
            <a:endParaRPr sz="41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c91ace5969_2_52"/>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56" name="Google Shape;256;g3c91ace5969_2_52"/>
          <p:cNvPicPr preferRelativeResize="0"/>
          <p:nvPr/>
        </p:nvPicPr>
        <p:blipFill>
          <a:blip r:embed="rId3">
            <a:alphaModFix/>
          </a:blip>
          <a:stretch>
            <a:fillRect/>
          </a:stretch>
        </p:blipFill>
        <p:spPr>
          <a:xfrm>
            <a:off x="4224075" y="152400"/>
            <a:ext cx="7815525" cy="5521699"/>
          </a:xfrm>
          <a:prstGeom prst="rect">
            <a:avLst/>
          </a:prstGeom>
          <a:noFill/>
          <a:ln>
            <a:noFill/>
          </a:ln>
        </p:spPr>
      </p:pic>
      <p:sp>
        <p:nvSpPr>
          <p:cNvPr id="257" name="Google Shape;257;g3c91ace5969_2_52"/>
          <p:cNvSpPr txBox="1"/>
          <p:nvPr/>
        </p:nvSpPr>
        <p:spPr>
          <a:xfrm>
            <a:off x="357375" y="1886225"/>
            <a:ext cx="5826000" cy="2161200"/>
          </a:xfrm>
          <a:prstGeom prst="rect">
            <a:avLst/>
          </a:prstGeom>
          <a:noFill/>
          <a:ln>
            <a:noFill/>
          </a:ln>
        </p:spPr>
        <p:txBody>
          <a:bodyPr anchorCtr="0" anchor="t" bIns="45700" lIns="91425" spcFirstLastPara="1" rIns="91425" wrap="square" tIns="45700">
            <a:spAutoFit/>
          </a:bodyPr>
          <a:lstStyle/>
          <a:p>
            <a:pPr indent="-381000" lvl="0" marL="457200" rtl="0" algn="l">
              <a:lnSpc>
                <a:spcPct val="115000"/>
              </a:lnSpc>
              <a:spcBef>
                <a:spcPts val="1200"/>
              </a:spcBef>
              <a:spcAft>
                <a:spcPts val="0"/>
              </a:spcAft>
              <a:buClr>
                <a:schemeClr val="dk1"/>
              </a:buClr>
              <a:buSzPts val="2400"/>
              <a:buChar char="-"/>
            </a:pPr>
            <a:r>
              <a:rPr lang="fr-FR" sz="2400">
                <a:solidFill>
                  <a:schemeClr val="dk1"/>
                </a:solidFill>
              </a:rPr>
              <a:t>On peut voir que quand le lapin est proche l’utility augmente et l’utility est au max entre 0.2 et 0.4 </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fr-FR" sz="2400">
                <a:solidFill>
                  <a:schemeClr val="dk1"/>
                </a:solidFill>
              </a:rPr>
              <a:t>Donc si le lapin est assez proche mais pas trop, l’utility est à 1.</a:t>
            </a:r>
            <a:endParaRPr sz="3400">
              <a:solidFill>
                <a:srgbClr val="222222"/>
              </a:solidFill>
              <a:highlight>
                <a:srgbClr val="FFFFFF"/>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c91ace5969_2_70"/>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64" name="Google Shape;264;g3c91ace5969_2_70"/>
          <p:cNvPicPr preferRelativeResize="0"/>
          <p:nvPr/>
        </p:nvPicPr>
        <p:blipFill>
          <a:blip r:embed="rId3">
            <a:alphaModFix/>
          </a:blip>
          <a:stretch>
            <a:fillRect/>
          </a:stretch>
        </p:blipFill>
        <p:spPr>
          <a:xfrm>
            <a:off x="4337121" y="314304"/>
            <a:ext cx="7399300" cy="5292475"/>
          </a:xfrm>
          <a:prstGeom prst="rect">
            <a:avLst/>
          </a:prstGeom>
          <a:noFill/>
          <a:ln>
            <a:noFill/>
          </a:ln>
        </p:spPr>
      </p:pic>
      <p:sp>
        <p:nvSpPr>
          <p:cNvPr id="265" name="Google Shape;265;g3c91ace5969_2_70"/>
          <p:cNvSpPr txBox="1"/>
          <p:nvPr/>
        </p:nvSpPr>
        <p:spPr>
          <a:xfrm>
            <a:off x="357375" y="1886225"/>
            <a:ext cx="5826000" cy="886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None/>
            </a:pPr>
            <a:r>
              <a:rPr lang="fr-FR" sz="2400">
                <a:solidFill>
                  <a:schemeClr val="dk1"/>
                </a:solidFill>
              </a:rPr>
              <a:t>Plus le chasseur est fatigué, moins il va vouloir tirer</a:t>
            </a:r>
            <a:endParaRPr sz="3400">
              <a:solidFill>
                <a:srgbClr val="222222"/>
              </a:solidFill>
              <a:highlight>
                <a:srgbClr val="FFFFFF"/>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c91ace5969_2_123"/>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2" name="Google Shape;272;g3c91ace5969_2_123"/>
          <p:cNvSpPr txBox="1"/>
          <p:nvPr/>
        </p:nvSpPr>
        <p:spPr>
          <a:xfrm>
            <a:off x="11829142" y="6335037"/>
            <a:ext cx="3630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5</a:t>
            </a:r>
            <a:endParaRPr/>
          </a:p>
        </p:txBody>
      </p:sp>
      <p:sp>
        <p:nvSpPr>
          <p:cNvPr id="273" name="Google Shape;273;g3c91ace5969_2_123"/>
          <p:cNvSpPr txBox="1"/>
          <p:nvPr/>
        </p:nvSpPr>
        <p:spPr>
          <a:xfrm>
            <a:off x="341450" y="535650"/>
            <a:ext cx="4839000" cy="61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fr-FR" sz="3400">
                <a:solidFill>
                  <a:schemeClr val="dk1"/>
                </a:solidFill>
              </a:rPr>
              <a:t>Placer Piège</a:t>
            </a:r>
            <a:endParaRPr b="1" sz="4200">
              <a:solidFill>
                <a:schemeClr val="dk1"/>
              </a:solidFill>
              <a:latin typeface="Arial"/>
              <a:ea typeface="Arial"/>
              <a:cs typeface="Arial"/>
              <a:sym typeface="Arial"/>
            </a:endParaRPr>
          </a:p>
        </p:txBody>
      </p:sp>
      <p:sp>
        <p:nvSpPr>
          <p:cNvPr id="274" name="Google Shape;274;g3c91ace5969_2_123"/>
          <p:cNvSpPr txBox="1"/>
          <p:nvPr/>
        </p:nvSpPr>
        <p:spPr>
          <a:xfrm>
            <a:off x="388350" y="1504838"/>
            <a:ext cx="11415300" cy="39903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None/>
            </a:pPr>
            <a:r>
              <a:rPr lang="fr-FR" sz="2200">
                <a:solidFill>
                  <a:schemeClr val="dk1"/>
                </a:solidFill>
              </a:rPr>
              <a:t>Utility(PlacerPiege) = (Utility(Memoire Position)*Utility(Fatigue)-Utility(StockTrap))/25</a:t>
            </a:r>
            <a:endParaRPr sz="2200">
              <a:solidFill>
                <a:schemeClr val="dk1"/>
              </a:solidFill>
            </a:endParaRPr>
          </a:p>
          <a:p>
            <a:pPr indent="-412750" lvl="0" marL="457200" rtl="0" algn="just">
              <a:lnSpc>
                <a:spcPct val="115000"/>
              </a:lnSpc>
              <a:spcBef>
                <a:spcPts val="1200"/>
              </a:spcBef>
              <a:spcAft>
                <a:spcPts val="0"/>
              </a:spcAft>
              <a:buClr>
                <a:schemeClr val="dk1"/>
              </a:buClr>
              <a:buSzPts val="2900"/>
              <a:buChar char="-"/>
            </a:pPr>
            <a:r>
              <a:rPr b="1" lang="fr-FR" sz="2200">
                <a:solidFill>
                  <a:schemeClr val="dk1"/>
                </a:solidFill>
              </a:rPr>
              <a:t>Mémoire position</a:t>
            </a:r>
            <a:r>
              <a:rPr lang="fr-FR" sz="2200">
                <a:solidFill>
                  <a:schemeClr val="dk1"/>
                </a:solidFill>
              </a:rPr>
              <a:t> : Quand le chasseur ne voit plus le lapin, il garde sa position un certain temps, quand il ne sait plus, c’est à 1.</a:t>
            </a:r>
            <a:endParaRPr sz="2200">
              <a:solidFill>
                <a:schemeClr val="dk1"/>
              </a:solidFill>
            </a:endParaRPr>
          </a:p>
          <a:p>
            <a:pPr indent="-412750" lvl="0" marL="457200" rtl="0" algn="just">
              <a:lnSpc>
                <a:spcPct val="115000"/>
              </a:lnSpc>
              <a:spcBef>
                <a:spcPts val="0"/>
              </a:spcBef>
              <a:spcAft>
                <a:spcPts val="0"/>
              </a:spcAft>
              <a:buClr>
                <a:schemeClr val="dk1"/>
              </a:buClr>
              <a:buSzPts val="2900"/>
              <a:buChar char="-"/>
            </a:pPr>
            <a:r>
              <a:rPr b="1" lang="fr-FR" sz="2200">
                <a:solidFill>
                  <a:schemeClr val="dk1"/>
                </a:solidFill>
              </a:rPr>
              <a:t>Fatigue </a:t>
            </a:r>
            <a:r>
              <a:rPr lang="fr-FR" sz="2200">
                <a:solidFill>
                  <a:schemeClr val="dk1"/>
                </a:solidFill>
              </a:rPr>
              <a:t>: le plus difficile à attribuer. On veut que certaines actions diminuent la valeur et certaines augmentent.</a:t>
            </a:r>
            <a:endParaRPr sz="2200">
              <a:solidFill>
                <a:schemeClr val="dk1"/>
              </a:solidFill>
            </a:endParaRPr>
          </a:p>
          <a:p>
            <a:pPr indent="-412750" lvl="0" marL="457200" rtl="0" algn="just">
              <a:lnSpc>
                <a:spcPct val="115000"/>
              </a:lnSpc>
              <a:spcBef>
                <a:spcPts val="0"/>
              </a:spcBef>
              <a:spcAft>
                <a:spcPts val="0"/>
              </a:spcAft>
              <a:buClr>
                <a:schemeClr val="dk1"/>
              </a:buClr>
              <a:buSzPts val="2900"/>
              <a:buChar char="-"/>
            </a:pPr>
            <a:r>
              <a:rPr b="1" lang="fr-FR" sz="2200">
                <a:solidFill>
                  <a:schemeClr val="dk1"/>
                </a:solidFill>
              </a:rPr>
              <a:t>Stock de piège</a:t>
            </a:r>
            <a:r>
              <a:rPr lang="fr-FR" sz="2200">
                <a:solidFill>
                  <a:schemeClr val="dk1"/>
                </a:solidFill>
              </a:rPr>
              <a:t> : elles diminuent quand le chasseur tire et augmentent quand le chasseur va rechercher des balles. </a:t>
            </a:r>
            <a:endParaRPr sz="2200">
              <a:solidFill>
                <a:schemeClr val="dk1"/>
              </a:solidFill>
            </a:endParaRPr>
          </a:p>
          <a:p>
            <a:pPr indent="0" lvl="0" marL="0" marR="0" rtl="0" algn="l">
              <a:spcBef>
                <a:spcPts val="1200"/>
              </a:spcBef>
              <a:spcAft>
                <a:spcPts val="0"/>
              </a:spcAft>
              <a:buNone/>
            </a:pPr>
            <a:r>
              <a:t/>
            </a:r>
            <a:endParaRPr sz="3200">
              <a:solidFill>
                <a:schemeClr val="dk1"/>
              </a:solidFill>
            </a:endParaRPr>
          </a:p>
        </p:txBody>
      </p:sp>
      <p:pic>
        <p:nvPicPr>
          <p:cNvPr descr="Papillon avec un remplissage uni" id="275" name="Google Shape;275;g3c91ace5969_2_123"/>
          <p:cNvPicPr preferRelativeResize="0"/>
          <p:nvPr/>
        </p:nvPicPr>
        <p:blipFill rotWithShape="1">
          <a:blip r:embed="rId3">
            <a:alphaModFix/>
          </a:blip>
          <a:srcRect b="0" l="0" r="0" t="0"/>
          <a:stretch/>
        </p:blipFill>
        <p:spPr>
          <a:xfrm rot="-3316091">
            <a:off x="4657577" y="57820"/>
            <a:ext cx="914400" cy="914400"/>
          </a:xfrm>
          <a:prstGeom prst="rect">
            <a:avLst/>
          </a:prstGeom>
          <a:noFill/>
          <a:ln>
            <a:noFill/>
          </a:ln>
        </p:spPr>
      </p:pic>
      <p:pic>
        <p:nvPicPr>
          <p:cNvPr descr="Rose avec un remplissage uni" id="276" name="Google Shape;276;g3c91ace5969_2_123"/>
          <p:cNvPicPr preferRelativeResize="0"/>
          <p:nvPr/>
        </p:nvPicPr>
        <p:blipFill rotWithShape="1">
          <a:blip r:embed="rId4">
            <a:alphaModFix/>
          </a:blip>
          <a:srcRect b="0" l="0" r="0" t="0"/>
          <a:stretch/>
        </p:blipFill>
        <p:spPr>
          <a:xfrm>
            <a:off x="413889" y="4931683"/>
            <a:ext cx="914400" cy="914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c91ace5969_2_105"/>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83" name="Google Shape;283;g3c91ace5969_2_105"/>
          <p:cNvPicPr preferRelativeResize="0"/>
          <p:nvPr/>
        </p:nvPicPr>
        <p:blipFill>
          <a:blip r:embed="rId3">
            <a:alphaModFix/>
          </a:blip>
          <a:stretch>
            <a:fillRect/>
          </a:stretch>
        </p:blipFill>
        <p:spPr>
          <a:xfrm>
            <a:off x="5042075" y="249750"/>
            <a:ext cx="6775425" cy="5362850"/>
          </a:xfrm>
          <a:prstGeom prst="rect">
            <a:avLst/>
          </a:prstGeom>
          <a:noFill/>
          <a:ln>
            <a:noFill/>
          </a:ln>
        </p:spPr>
      </p:pic>
      <p:sp>
        <p:nvSpPr>
          <p:cNvPr id="284" name="Google Shape;284;g3c91ace5969_2_105"/>
          <p:cNvSpPr txBox="1"/>
          <p:nvPr/>
        </p:nvSpPr>
        <p:spPr>
          <a:xfrm>
            <a:off x="357375" y="1886225"/>
            <a:ext cx="5826000" cy="787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None/>
            </a:pPr>
            <a:r>
              <a:rPr lang="fr-FR" sz="2100">
                <a:solidFill>
                  <a:schemeClr val="dk1"/>
                </a:solidFill>
              </a:rPr>
              <a:t>Plus le chasseur est fatigué, plus il aura mal au dos, et moins il voudra se baisser</a:t>
            </a:r>
            <a:endParaRPr sz="3100">
              <a:solidFill>
                <a:srgbClr val="222222"/>
              </a:solidFill>
              <a:highlight>
                <a:srgbClr val="FFFFFF"/>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c91ace5969_2_115"/>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91" name="Google Shape;291;g3c91ace5969_2_115"/>
          <p:cNvPicPr preferRelativeResize="0"/>
          <p:nvPr/>
        </p:nvPicPr>
        <p:blipFill>
          <a:blip r:embed="rId3">
            <a:alphaModFix/>
          </a:blip>
          <a:stretch>
            <a:fillRect/>
          </a:stretch>
        </p:blipFill>
        <p:spPr>
          <a:xfrm>
            <a:off x="5524075" y="152400"/>
            <a:ext cx="6355249" cy="5416150"/>
          </a:xfrm>
          <a:prstGeom prst="rect">
            <a:avLst/>
          </a:prstGeom>
          <a:noFill/>
          <a:ln>
            <a:noFill/>
          </a:ln>
        </p:spPr>
      </p:pic>
      <p:sp>
        <p:nvSpPr>
          <p:cNvPr id="292" name="Google Shape;292;g3c91ace5969_2_115"/>
          <p:cNvSpPr txBox="1"/>
          <p:nvPr/>
        </p:nvSpPr>
        <p:spPr>
          <a:xfrm>
            <a:off x="357375" y="1867400"/>
            <a:ext cx="5826000" cy="1158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None/>
            </a:pPr>
            <a:r>
              <a:rPr lang="fr-FR" sz="2100">
                <a:solidFill>
                  <a:schemeClr val="dk1"/>
                </a:solidFill>
              </a:rPr>
              <a:t>Le chasseur va vouloir économiser ses pièges, il va donc prendre beaucoup de temps avant de les poser</a:t>
            </a:r>
            <a:endParaRPr sz="3100">
              <a:solidFill>
                <a:srgbClr val="222222"/>
              </a:solidFill>
              <a:highlight>
                <a:srgbClr val="FFFFFF"/>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c91ace5969_2_136"/>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99" name="Google Shape;299;g3c91ace5969_2_136"/>
          <p:cNvPicPr preferRelativeResize="0"/>
          <p:nvPr/>
        </p:nvPicPr>
        <p:blipFill>
          <a:blip r:embed="rId3">
            <a:alphaModFix/>
          </a:blip>
          <a:stretch>
            <a:fillRect/>
          </a:stretch>
        </p:blipFill>
        <p:spPr>
          <a:xfrm>
            <a:off x="5626441" y="152400"/>
            <a:ext cx="6413159" cy="5610225"/>
          </a:xfrm>
          <a:prstGeom prst="rect">
            <a:avLst/>
          </a:prstGeom>
          <a:noFill/>
          <a:ln>
            <a:noFill/>
          </a:ln>
        </p:spPr>
      </p:pic>
      <p:sp>
        <p:nvSpPr>
          <p:cNvPr id="300" name="Google Shape;300;g3c91ace5969_2_136"/>
          <p:cNvSpPr txBox="1"/>
          <p:nvPr/>
        </p:nvSpPr>
        <p:spPr>
          <a:xfrm>
            <a:off x="357375" y="1886225"/>
            <a:ext cx="5826000" cy="1158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None/>
            </a:pPr>
            <a:r>
              <a:rPr lang="fr-FR" sz="2100">
                <a:solidFill>
                  <a:schemeClr val="dk1"/>
                </a:solidFill>
              </a:rPr>
              <a:t>Plus la valeur </a:t>
            </a:r>
            <a:r>
              <a:rPr lang="fr-FR" sz="2100">
                <a:solidFill>
                  <a:schemeClr val="dk1"/>
                </a:solidFill>
              </a:rPr>
              <a:t>diminue</a:t>
            </a:r>
            <a:r>
              <a:rPr lang="fr-FR" sz="2100">
                <a:solidFill>
                  <a:schemeClr val="dk1"/>
                </a:solidFill>
              </a:rPr>
              <a:t>, plus le chasseur sera proche de la dernière position du lapin, ce sera donc un bon moment pour poser le piège</a:t>
            </a:r>
            <a:endParaRPr sz="3100">
              <a:solidFill>
                <a:srgbClr val="222222"/>
              </a:solidFill>
              <a:highlight>
                <a:srgbClr val="FFFFFF"/>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c93084ca21_0_37"/>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07" name="Google Shape;307;g3c93084ca21_0_37"/>
          <p:cNvPicPr preferRelativeResize="0"/>
          <p:nvPr/>
        </p:nvPicPr>
        <p:blipFill>
          <a:blip r:embed="rId3">
            <a:alphaModFix/>
          </a:blip>
          <a:stretch>
            <a:fillRect/>
          </a:stretch>
        </p:blipFill>
        <p:spPr>
          <a:xfrm>
            <a:off x="3962450" y="220450"/>
            <a:ext cx="7785310" cy="5457826"/>
          </a:xfrm>
          <a:prstGeom prst="rect">
            <a:avLst/>
          </a:prstGeom>
          <a:noFill/>
          <a:ln>
            <a:noFill/>
          </a:ln>
        </p:spPr>
      </p:pic>
      <p:sp>
        <p:nvSpPr>
          <p:cNvPr id="308" name="Google Shape;308;g3c93084ca21_0_37"/>
          <p:cNvSpPr txBox="1"/>
          <p:nvPr/>
        </p:nvSpPr>
        <p:spPr>
          <a:xfrm>
            <a:off x="341450" y="535650"/>
            <a:ext cx="4839000" cy="61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fr-FR" sz="3400">
                <a:solidFill>
                  <a:schemeClr val="dk1"/>
                </a:solidFill>
              </a:rPr>
              <a:t>Ajout UX</a:t>
            </a:r>
            <a:endParaRPr b="1" sz="4200">
              <a:solidFill>
                <a:schemeClr val="dk1"/>
              </a:solidFill>
              <a:latin typeface="Arial"/>
              <a:ea typeface="Arial"/>
              <a:cs typeface="Arial"/>
              <a:sym typeface="Arial"/>
            </a:endParaRPr>
          </a:p>
        </p:txBody>
      </p:sp>
      <p:sp>
        <p:nvSpPr>
          <p:cNvPr id="309" name="Google Shape;309;g3c93084ca21_0_37"/>
          <p:cNvSpPr txBox="1"/>
          <p:nvPr/>
        </p:nvSpPr>
        <p:spPr>
          <a:xfrm>
            <a:off x="243775" y="1878450"/>
            <a:ext cx="3518700" cy="2505900"/>
          </a:xfrm>
          <a:prstGeom prst="rect">
            <a:avLst/>
          </a:prstGeom>
          <a:noFill/>
          <a:ln>
            <a:noFill/>
          </a:ln>
        </p:spPr>
        <p:txBody>
          <a:bodyPr anchorCtr="0" anchor="t" bIns="45700" lIns="91425" spcFirstLastPara="1" rIns="91425" wrap="square" tIns="45700">
            <a:spAutoFit/>
          </a:bodyPr>
          <a:lstStyle/>
          <a:p>
            <a:pPr indent="-406400" lvl="0" marL="457200" rtl="0" algn="l">
              <a:lnSpc>
                <a:spcPct val="115000"/>
              </a:lnSpc>
              <a:spcBef>
                <a:spcPts val="0"/>
              </a:spcBef>
              <a:spcAft>
                <a:spcPts val="0"/>
              </a:spcAft>
              <a:buClr>
                <a:schemeClr val="dk1"/>
              </a:buClr>
              <a:buSzPts val="2800"/>
              <a:buChar char="-"/>
            </a:pPr>
            <a:r>
              <a:rPr lang="fr-FR" sz="2800">
                <a:solidFill>
                  <a:schemeClr val="dk1"/>
                </a:solidFill>
              </a:rPr>
              <a:t>Nom du joueur</a:t>
            </a:r>
            <a:endParaRPr sz="2800">
              <a:solidFill>
                <a:schemeClr val="dk1"/>
              </a:solidFill>
            </a:endParaRPr>
          </a:p>
          <a:p>
            <a:pPr indent="0" lvl="0" marL="457200" rtl="0" algn="l">
              <a:lnSpc>
                <a:spcPct val="115000"/>
              </a:lnSpc>
              <a:spcBef>
                <a:spcPts val="0"/>
              </a:spcBef>
              <a:spcAft>
                <a:spcPts val="0"/>
              </a:spcAft>
              <a:buNone/>
            </a:pPr>
            <a:r>
              <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Mode spectateur quand mort</a:t>
            </a:r>
            <a:endParaRPr sz="2800">
              <a:solidFill>
                <a:schemeClr val="dk1"/>
              </a:solidFill>
            </a:endParaRPr>
          </a:p>
          <a:p>
            <a:pPr indent="0" lvl="0" marL="0" rtl="0" algn="l">
              <a:spcBef>
                <a:spcPts val="0"/>
              </a:spcBef>
              <a:spcAft>
                <a:spcPts val="0"/>
              </a:spcAft>
              <a:buNone/>
            </a:pPr>
            <a:r>
              <a:t/>
            </a:r>
            <a:endParaRPr sz="2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descr="Algues marines avec un remplissage uni" id="315" name="Google Shape;315;g3c7bd57e04d_3_14"/>
          <p:cNvPicPr preferRelativeResize="0"/>
          <p:nvPr/>
        </p:nvPicPr>
        <p:blipFill rotWithShape="1">
          <a:blip r:embed="rId3">
            <a:alphaModFix/>
          </a:blip>
          <a:srcRect b="0" l="0" r="0" t="0"/>
          <a:stretch/>
        </p:blipFill>
        <p:spPr>
          <a:xfrm rot="1322684">
            <a:off x="10906252" y="4617400"/>
            <a:ext cx="914400" cy="914400"/>
          </a:xfrm>
          <a:prstGeom prst="rect">
            <a:avLst/>
          </a:prstGeom>
          <a:noFill/>
          <a:ln>
            <a:noFill/>
          </a:ln>
        </p:spPr>
      </p:pic>
      <p:sp>
        <p:nvSpPr>
          <p:cNvPr id="316" name="Google Shape;316;g3c7bd57e04d_3_14"/>
          <p:cNvSpPr/>
          <p:nvPr/>
        </p:nvSpPr>
        <p:spPr>
          <a:xfrm>
            <a:off x="9787532" y="1578775"/>
            <a:ext cx="672900" cy="6114900"/>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 name="Google Shape;317;g3c7bd57e04d_3_14"/>
          <p:cNvSpPr/>
          <p:nvPr/>
        </p:nvSpPr>
        <p:spPr>
          <a:xfrm>
            <a:off x="8170084" y="266119"/>
            <a:ext cx="3907800" cy="17469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8" name="Google Shape;318;g3c7bd57e04d_3_14"/>
          <p:cNvSpPr/>
          <p:nvPr/>
        </p:nvSpPr>
        <p:spPr>
          <a:xfrm>
            <a:off x="-530625" y="5762625"/>
            <a:ext cx="12898200" cy="10953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9" name="Google Shape;319;g3c7bd57e04d_3_14"/>
          <p:cNvSpPr txBox="1"/>
          <p:nvPr/>
        </p:nvSpPr>
        <p:spPr>
          <a:xfrm>
            <a:off x="11829142" y="6335037"/>
            <a:ext cx="3630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6</a:t>
            </a:r>
            <a:endParaRPr/>
          </a:p>
        </p:txBody>
      </p:sp>
      <p:sp>
        <p:nvSpPr>
          <p:cNvPr id="320" name="Google Shape;320;g3c7bd57e04d_3_14"/>
          <p:cNvSpPr txBox="1"/>
          <p:nvPr/>
        </p:nvSpPr>
        <p:spPr>
          <a:xfrm>
            <a:off x="341450" y="535650"/>
            <a:ext cx="4839000" cy="61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fr-FR" sz="3400">
                <a:solidFill>
                  <a:schemeClr val="dk1"/>
                </a:solidFill>
              </a:rPr>
              <a:t>Les tests </a:t>
            </a:r>
            <a:endParaRPr b="1" sz="4200">
              <a:solidFill>
                <a:schemeClr val="dk1"/>
              </a:solidFill>
              <a:latin typeface="Arial"/>
              <a:ea typeface="Arial"/>
              <a:cs typeface="Arial"/>
              <a:sym typeface="Arial"/>
            </a:endParaRPr>
          </a:p>
        </p:txBody>
      </p:sp>
      <p:pic>
        <p:nvPicPr>
          <p:cNvPr descr="Algues marines avec un remplissage uni" id="321" name="Google Shape;321;g3c7bd57e04d_3_14"/>
          <p:cNvPicPr preferRelativeResize="0"/>
          <p:nvPr/>
        </p:nvPicPr>
        <p:blipFill rotWithShape="1">
          <a:blip r:embed="rId3">
            <a:alphaModFix/>
          </a:blip>
          <a:srcRect b="0" l="0" r="0" t="0"/>
          <a:stretch/>
        </p:blipFill>
        <p:spPr>
          <a:xfrm>
            <a:off x="10450277" y="4479225"/>
            <a:ext cx="914400" cy="914400"/>
          </a:xfrm>
          <a:prstGeom prst="rect">
            <a:avLst/>
          </a:prstGeom>
          <a:noFill/>
          <a:ln>
            <a:noFill/>
          </a:ln>
        </p:spPr>
      </p:pic>
      <p:pic>
        <p:nvPicPr>
          <p:cNvPr id="322" name="Google Shape;322;g3c7bd57e04d_3_14"/>
          <p:cNvPicPr preferRelativeResize="0"/>
          <p:nvPr/>
        </p:nvPicPr>
        <p:blipFill>
          <a:blip r:embed="rId4">
            <a:alphaModFix/>
          </a:blip>
          <a:stretch>
            <a:fillRect/>
          </a:stretch>
        </p:blipFill>
        <p:spPr>
          <a:xfrm>
            <a:off x="4270000" y="5267325"/>
            <a:ext cx="7559151" cy="1590675"/>
          </a:xfrm>
          <a:prstGeom prst="rect">
            <a:avLst/>
          </a:prstGeom>
          <a:noFill/>
          <a:ln>
            <a:noFill/>
          </a:ln>
        </p:spPr>
      </p:pic>
      <p:sp>
        <p:nvSpPr>
          <p:cNvPr id="323" name="Google Shape;323;g3c7bd57e04d_3_14"/>
          <p:cNvSpPr txBox="1"/>
          <p:nvPr/>
        </p:nvSpPr>
        <p:spPr>
          <a:xfrm>
            <a:off x="341450" y="1348125"/>
            <a:ext cx="9683700" cy="391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FR" sz="2300">
                <a:solidFill>
                  <a:schemeClr val="dk1"/>
                </a:solidFill>
              </a:rPr>
              <a:t>Validation des comportements IA</a:t>
            </a:r>
            <a:endParaRPr b="1" sz="2300">
              <a:solidFill>
                <a:schemeClr val="dk1"/>
              </a:solidFill>
            </a:endParaRPr>
          </a:p>
          <a:p>
            <a:pPr indent="-361950" lvl="0" marL="457200" rtl="0" algn="l">
              <a:lnSpc>
                <a:spcPct val="115000"/>
              </a:lnSpc>
              <a:spcBef>
                <a:spcPts val="1200"/>
              </a:spcBef>
              <a:spcAft>
                <a:spcPts val="0"/>
              </a:spcAft>
              <a:buClr>
                <a:schemeClr val="dk1"/>
              </a:buClr>
              <a:buSzPts val="2100"/>
              <a:buChar char="●"/>
            </a:pPr>
            <a:r>
              <a:rPr lang="fr-FR" sz="2100">
                <a:solidFill>
                  <a:schemeClr val="dk1"/>
                </a:solidFill>
              </a:rPr>
              <a:t>Tests unitaires des ActionNodes (CloseAttack, Follow, Trap, Reload…)</a:t>
            </a:r>
            <a:br>
              <a:rPr lang="fr-FR" sz="2100">
                <a:solidFill>
                  <a:schemeClr val="dk1"/>
                </a:solidFill>
              </a:rPr>
            </a:b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fr-FR" sz="2100">
                <a:solidFill>
                  <a:schemeClr val="dk1"/>
                </a:solidFill>
              </a:rPr>
              <a:t>Utilisation de Fake Hunter &amp; Fake Blackboard</a:t>
            </a:r>
            <a:br>
              <a:rPr lang="fr-FR" sz="2100">
                <a:solidFill>
                  <a:schemeClr val="dk1"/>
                </a:solidFill>
              </a:rPr>
            </a:b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fr-FR" sz="2100">
                <a:solidFill>
                  <a:schemeClr val="dk1"/>
                </a:solidFill>
              </a:rPr>
              <a:t>Vérification des retours </a:t>
            </a:r>
            <a:r>
              <a:rPr lang="fr-FR" sz="2100">
                <a:solidFill>
                  <a:srgbClr val="188038"/>
                </a:solidFill>
                <a:latin typeface="Roboto Mono"/>
                <a:ea typeface="Roboto Mono"/>
                <a:cs typeface="Roboto Mono"/>
                <a:sym typeface="Roboto Mono"/>
              </a:rPr>
              <a:t>SUCCESS / FAILURE / RUNNING</a:t>
            </a:r>
            <a:br>
              <a:rPr lang="fr-FR" sz="2100">
                <a:solidFill>
                  <a:srgbClr val="188038"/>
                </a:solidFill>
                <a:latin typeface="Roboto Mono"/>
                <a:ea typeface="Roboto Mono"/>
                <a:cs typeface="Roboto Mono"/>
                <a:sym typeface="Roboto Mono"/>
              </a:rPr>
            </a:br>
            <a:endParaRPr sz="2100">
              <a:solidFill>
                <a:srgbClr val="188038"/>
              </a:solidFill>
              <a:latin typeface="Roboto Mono"/>
              <a:ea typeface="Roboto Mono"/>
              <a:cs typeface="Roboto Mono"/>
              <a:sym typeface="Roboto Mono"/>
            </a:endParaRPr>
          </a:p>
          <a:p>
            <a:pPr indent="-361950" lvl="0" marL="457200" rtl="0" algn="l">
              <a:lnSpc>
                <a:spcPct val="115000"/>
              </a:lnSpc>
              <a:spcBef>
                <a:spcPts val="0"/>
              </a:spcBef>
              <a:spcAft>
                <a:spcPts val="0"/>
              </a:spcAft>
              <a:buClr>
                <a:schemeClr val="dk1"/>
              </a:buClr>
              <a:buSzPts val="2100"/>
              <a:buChar char="●"/>
            </a:pPr>
            <a:r>
              <a:rPr lang="fr-FR" sz="2100">
                <a:solidFill>
                  <a:schemeClr val="dk1"/>
                </a:solidFill>
              </a:rPr>
              <a:t>Tests spécifiques Lapin (Satiety, états internes)</a:t>
            </a:r>
            <a:br>
              <a:rPr lang="fr-FR" sz="2100">
                <a:solidFill>
                  <a:schemeClr val="dk1"/>
                </a:solidFill>
              </a:rPr>
            </a:b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fr-FR" sz="2100">
                <a:solidFill>
                  <a:schemeClr val="dk1"/>
                </a:solidFill>
              </a:rPr>
              <a:t>Tests de perception &amp; Utility</a:t>
            </a:r>
            <a:endParaRPr sz="2100">
              <a:solidFill>
                <a:schemeClr val="dk1"/>
              </a:solidFill>
            </a:endParaRPr>
          </a:p>
          <a:p>
            <a:pPr indent="0" lvl="0" marL="0" rtl="0" algn="l">
              <a:spcBef>
                <a:spcPts val="1200"/>
              </a:spcBef>
              <a:spcAft>
                <a:spcPts val="0"/>
              </a:spcAft>
              <a:buNone/>
            </a:pPr>
            <a:r>
              <a:t/>
            </a:r>
            <a:endParaRPr sz="34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c7bd57e04d_3_75"/>
          <p:cNvSpPr/>
          <p:nvPr/>
        </p:nvSpPr>
        <p:spPr>
          <a:xfrm>
            <a:off x="11251659" y="35325"/>
            <a:ext cx="672900" cy="6151800"/>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0" name="Google Shape;330;g3c7bd57e04d_3_75"/>
          <p:cNvSpPr/>
          <p:nvPr/>
        </p:nvSpPr>
        <p:spPr>
          <a:xfrm>
            <a:off x="9541359" y="-592075"/>
            <a:ext cx="4093500" cy="1182300"/>
          </a:xfrm>
          <a:prstGeom prst="rect">
            <a:avLst/>
          </a:prstGeom>
          <a:solidFill>
            <a:srgbClr val="A11D0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1" name="Google Shape;331;g3c7bd57e04d_3_75"/>
          <p:cNvSpPr/>
          <p:nvPr/>
        </p:nvSpPr>
        <p:spPr>
          <a:xfrm>
            <a:off x="-530625" y="5762625"/>
            <a:ext cx="12898200" cy="10953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2" name="Google Shape;332;g3c7bd57e04d_3_75"/>
          <p:cNvSpPr txBox="1"/>
          <p:nvPr/>
        </p:nvSpPr>
        <p:spPr>
          <a:xfrm>
            <a:off x="11829142" y="6335037"/>
            <a:ext cx="3630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7</a:t>
            </a:r>
            <a:endParaRPr/>
          </a:p>
        </p:txBody>
      </p:sp>
      <p:sp>
        <p:nvSpPr>
          <p:cNvPr id="333" name="Google Shape;333;g3c7bd57e04d_3_75"/>
          <p:cNvSpPr txBox="1"/>
          <p:nvPr/>
        </p:nvSpPr>
        <p:spPr>
          <a:xfrm>
            <a:off x="341450" y="168575"/>
            <a:ext cx="5568900" cy="61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fr-FR" sz="3400">
                <a:solidFill>
                  <a:schemeClr val="dk1"/>
                </a:solidFill>
              </a:rPr>
              <a:t>Répartition des tâches </a:t>
            </a:r>
            <a:endParaRPr b="1" sz="4200">
              <a:solidFill>
                <a:schemeClr val="dk1"/>
              </a:solidFill>
              <a:latin typeface="Arial"/>
              <a:ea typeface="Arial"/>
              <a:cs typeface="Arial"/>
              <a:sym typeface="Arial"/>
            </a:endParaRPr>
          </a:p>
        </p:txBody>
      </p:sp>
      <p:graphicFrame>
        <p:nvGraphicFramePr>
          <p:cNvPr id="334" name="Google Shape;334;g3c7bd57e04d_3_75"/>
          <p:cNvGraphicFramePr/>
          <p:nvPr/>
        </p:nvGraphicFramePr>
        <p:xfrm>
          <a:off x="256325" y="943800"/>
          <a:ext cx="3000000" cy="3000000"/>
        </p:xfrm>
        <a:graphic>
          <a:graphicData uri="http://schemas.openxmlformats.org/drawingml/2006/table">
            <a:tbl>
              <a:tblPr>
                <a:noFill/>
                <a:tableStyleId>{6B479B61-E4F1-44F4-BD2B-CA1E4937A64C}</a:tableStyleId>
              </a:tblPr>
              <a:tblGrid>
                <a:gridCol w="2697825"/>
                <a:gridCol w="2697825"/>
                <a:gridCol w="2697825"/>
                <a:gridCol w="2697825"/>
              </a:tblGrid>
              <a:tr h="730425">
                <a:tc>
                  <a:txBody>
                    <a:bodyPr/>
                    <a:lstStyle/>
                    <a:p>
                      <a:pPr indent="0" lvl="0" marL="0" rtl="0" algn="l">
                        <a:spcBef>
                          <a:spcPts val="0"/>
                        </a:spcBef>
                        <a:spcAft>
                          <a:spcPts val="0"/>
                        </a:spcAft>
                        <a:buNone/>
                      </a:pPr>
                      <a:r>
                        <a:t/>
                      </a:r>
                      <a:endParaRPr sz="2000"/>
                    </a:p>
                  </a:txBody>
                  <a:tcPr marT="63500" marB="63500" marR="63500" marL="63500"/>
                </a:tc>
                <a:tc>
                  <a:txBody>
                    <a:bodyPr/>
                    <a:lstStyle/>
                    <a:p>
                      <a:pPr indent="0" lvl="0" marL="0" rtl="0" algn="ctr">
                        <a:spcBef>
                          <a:spcPts val="0"/>
                        </a:spcBef>
                        <a:spcAft>
                          <a:spcPts val="0"/>
                        </a:spcAft>
                        <a:buNone/>
                      </a:pPr>
                      <a:r>
                        <a:rPr b="1" lang="fr-FR" sz="2000"/>
                        <a:t>Lundi</a:t>
                      </a:r>
                      <a:endParaRPr b="1" sz="2000"/>
                    </a:p>
                  </a:txBody>
                  <a:tcPr marT="63500" marB="63500" marR="63500" marL="63500" anchor="ctr">
                    <a:solidFill>
                      <a:srgbClr val="E6B8AF"/>
                    </a:solidFill>
                  </a:tcPr>
                </a:tc>
                <a:tc>
                  <a:txBody>
                    <a:bodyPr/>
                    <a:lstStyle/>
                    <a:p>
                      <a:pPr indent="0" lvl="0" marL="0" rtl="0" algn="ctr">
                        <a:spcBef>
                          <a:spcPts val="0"/>
                        </a:spcBef>
                        <a:spcAft>
                          <a:spcPts val="0"/>
                        </a:spcAft>
                        <a:buNone/>
                      </a:pPr>
                      <a:r>
                        <a:rPr b="1" lang="fr-FR" sz="2000"/>
                        <a:t>Mardi</a:t>
                      </a:r>
                      <a:endParaRPr b="1" sz="2000"/>
                    </a:p>
                  </a:txBody>
                  <a:tcPr marT="63500" marB="63500" marR="63500" marL="63500" anchor="ctr">
                    <a:solidFill>
                      <a:srgbClr val="E6B8AF"/>
                    </a:solidFill>
                  </a:tcPr>
                </a:tc>
                <a:tc>
                  <a:txBody>
                    <a:bodyPr/>
                    <a:lstStyle/>
                    <a:p>
                      <a:pPr indent="0" lvl="0" marL="0" rtl="0" algn="ctr">
                        <a:spcBef>
                          <a:spcPts val="0"/>
                        </a:spcBef>
                        <a:spcAft>
                          <a:spcPts val="0"/>
                        </a:spcAft>
                        <a:buNone/>
                      </a:pPr>
                      <a:r>
                        <a:rPr b="1" lang="fr-FR" sz="2000"/>
                        <a:t>Mercredi</a:t>
                      </a:r>
                      <a:endParaRPr b="1" sz="2000"/>
                    </a:p>
                  </a:txBody>
                  <a:tcPr marT="63500" marB="63500" marR="63500" marL="63500" anchor="ctr">
                    <a:solidFill>
                      <a:srgbClr val="E6B8AF"/>
                    </a:solidFill>
                  </a:tcPr>
                </a:tc>
              </a:tr>
              <a:tr h="1569725">
                <a:tc>
                  <a:txBody>
                    <a:bodyPr/>
                    <a:lstStyle/>
                    <a:p>
                      <a:pPr indent="0" lvl="0" marL="0" rtl="0" algn="ctr">
                        <a:spcBef>
                          <a:spcPts val="0"/>
                        </a:spcBef>
                        <a:spcAft>
                          <a:spcPts val="0"/>
                        </a:spcAft>
                        <a:buNone/>
                      </a:pPr>
                      <a:r>
                        <a:rPr b="1" lang="fr-FR" sz="2000"/>
                        <a:t>Hugo</a:t>
                      </a:r>
                      <a:endParaRPr b="1" sz="2000"/>
                    </a:p>
                  </a:txBody>
                  <a:tcPr marT="63500" marB="63500" marR="63500" marL="63500" anchor="ctr">
                    <a:solidFill>
                      <a:srgbClr val="D9EAD3"/>
                    </a:solidFill>
                  </a:tcPr>
                </a:tc>
                <a:tc>
                  <a:txBody>
                    <a:bodyPr/>
                    <a:lstStyle/>
                    <a:p>
                      <a:pPr indent="0" lvl="0" marL="0" rtl="0" algn="ctr">
                        <a:spcBef>
                          <a:spcPts val="0"/>
                        </a:spcBef>
                        <a:spcAft>
                          <a:spcPts val="0"/>
                        </a:spcAft>
                        <a:buNone/>
                      </a:pPr>
                      <a:r>
                        <a:rPr lang="fr-FR" sz="2000"/>
                        <a:t>Réglage</a:t>
                      </a:r>
                      <a:r>
                        <a:rPr lang="fr-FR" sz="2000"/>
                        <a:t> bug connexion</a:t>
                      </a:r>
                      <a:endParaRPr sz="2000"/>
                    </a:p>
                    <a:p>
                      <a:pPr indent="0" lvl="0" marL="0" rtl="0" algn="ctr">
                        <a:spcBef>
                          <a:spcPts val="0"/>
                        </a:spcBef>
                        <a:spcAft>
                          <a:spcPts val="0"/>
                        </a:spcAft>
                        <a:buNone/>
                      </a:pPr>
                      <a:r>
                        <a:rPr lang="fr-FR" sz="2000"/>
                        <a:t>Utility Tir/Recharge</a:t>
                      </a:r>
                      <a:endParaRPr sz="2000"/>
                    </a:p>
                  </a:txBody>
                  <a:tcPr marT="63500" marB="63500" marR="63500" marL="63500" anchor="ctr"/>
                </a:tc>
                <a:tc>
                  <a:txBody>
                    <a:bodyPr/>
                    <a:lstStyle/>
                    <a:p>
                      <a:pPr indent="0" lvl="0" marL="0" rtl="0" algn="ctr">
                        <a:spcBef>
                          <a:spcPts val="0"/>
                        </a:spcBef>
                        <a:spcAft>
                          <a:spcPts val="0"/>
                        </a:spcAft>
                        <a:buNone/>
                      </a:pPr>
                      <a:r>
                        <a:rPr lang="fr-FR" sz="2000"/>
                        <a:t>Utility Tir/Recharge</a:t>
                      </a:r>
                      <a:endParaRPr sz="2000"/>
                    </a:p>
                    <a:p>
                      <a:pPr indent="0" lvl="0" marL="0" rtl="0" algn="ctr">
                        <a:spcBef>
                          <a:spcPts val="0"/>
                        </a:spcBef>
                        <a:spcAft>
                          <a:spcPts val="0"/>
                        </a:spcAft>
                        <a:buNone/>
                      </a:pPr>
                      <a:r>
                        <a:rPr lang="fr-FR" sz="2000"/>
                        <a:t>Ajout Nom Joueur, </a:t>
                      </a:r>
                      <a:r>
                        <a:rPr lang="fr-FR" sz="2000"/>
                        <a:t>Caméra</a:t>
                      </a:r>
                      <a:r>
                        <a:rPr lang="fr-FR" sz="2000"/>
                        <a:t> Spectateur</a:t>
                      </a:r>
                      <a:endParaRPr sz="2000"/>
                    </a:p>
                  </a:txBody>
                  <a:tcPr marT="63500" marB="63500" marR="63500" marL="63500" anchor="ctr"/>
                </a:tc>
                <a:tc>
                  <a:txBody>
                    <a:bodyPr/>
                    <a:lstStyle/>
                    <a:p>
                      <a:pPr indent="0" lvl="0" marL="0" rtl="0" algn="ctr">
                        <a:spcBef>
                          <a:spcPts val="0"/>
                        </a:spcBef>
                        <a:spcAft>
                          <a:spcPts val="0"/>
                        </a:spcAft>
                        <a:buClr>
                          <a:schemeClr val="dk1"/>
                        </a:buClr>
                        <a:buSzPts val="1100"/>
                        <a:buFont typeface="Arial"/>
                        <a:buNone/>
                      </a:pPr>
                      <a:r>
                        <a:rPr lang="fr-FR" sz="2000">
                          <a:solidFill>
                            <a:schemeClr val="dk1"/>
                          </a:solidFill>
                        </a:rPr>
                        <a:t>Caméra Spectateur</a:t>
                      </a:r>
                      <a:endParaRPr sz="2000">
                        <a:solidFill>
                          <a:schemeClr val="dk1"/>
                        </a:solidFill>
                      </a:endParaRPr>
                    </a:p>
                    <a:p>
                      <a:pPr indent="0" lvl="0" marL="0" rtl="0" algn="ctr">
                        <a:spcBef>
                          <a:spcPts val="0"/>
                        </a:spcBef>
                        <a:spcAft>
                          <a:spcPts val="0"/>
                        </a:spcAft>
                        <a:buNone/>
                      </a:pPr>
                      <a:r>
                        <a:rPr lang="fr-FR" sz="2000"/>
                        <a:t>Utility</a:t>
                      </a:r>
                      <a:endParaRPr sz="2000"/>
                    </a:p>
                  </a:txBody>
                  <a:tcPr marT="63500" marB="63500" marR="63500" marL="63500" anchor="ctr"/>
                </a:tc>
              </a:tr>
              <a:tr h="1569725">
                <a:tc>
                  <a:txBody>
                    <a:bodyPr/>
                    <a:lstStyle/>
                    <a:p>
                      <a:pPr indent="0" lvl="0" marL="0" rtl="0" algn="ctr">
                        <a:spcBef>
                          <a:spcPts val="0"/>
                        </a:spcBef>
                        <a:spcAft>
                          <a:spcPts val="0"/>
                        </a:spcAft>
                        <a:buNone/>
                      </a:pPr>
                      <a:r>
                        <a:rPr b="1" lang="fr-FR" sz="2000"/>
                        <a:t>Noah</a:t>
                      </a:r>
                      <a:endParaRPr b="1" sz="2000"/>
                    </a:p>
                  </a:txBody>
                  <a:tcPr marT="63500" marB="63500" marR="63500" marL="63500" anchor="ctr">
                    <a:solidFill>
                      <a:srgbClr val="D9EAD3"/>
                    </a:solidFill>
                  </a:tcPr>
                </a:tc>
                <a:tc>
                  <a:txBody>
                    <a:bodyPr/>
                    <a:lstStyle/>
                    <a:p>
                      <a:pPr indent="0" lvl="0" marL="0" rtl="0" algn="ctr">
                        <a:spcBef>
                          <a:spcPts val="0"/>
                        </a:spcBef>
                        <a:spcAft>
                          <a:spcPts val="0"/>
                        </a:spcAft>
                        <a:buNone/>
                      </a:pPr>
                      <a:r>
                        <a:rPr lang="fr-FR" sz="2000"/>
                        <a:t>Terrier dans le jeu avec les téléportations</a:t>
                      </a:r>
                      <a:endParaRPr sz="2000"/>
                    </a:p>
                  </a:txBody>
                  <a:tcPr marT="63500" marB="63500" marR="63500" marL="63500" anchor="ctr"/>
                </a:tc>
                <a:tc>
                  <a:txBody>
                    <a:bodyPr/>
                    <a:lstStyle/>
                    <a:p>
                      <a:pPr indent="0" lvl="0" marL="0" rtl="0" algn="ctr">
                        <a:spcBef>
                          <a:spcPts val="0"/>
                        </a:spcBef>
                        <a:spcAft>
                          <a:spcPts val="0"/>
                        </a:spcAft>
                        <a:buNone/>
                      </a:pPr>
                      <a:r>
                        <a:rPr lang="fr-FR" sz="2000"/>
                        <a:t>Terrier fini / Utility (Tir) / buisson cachette</a:t>
                      </a:r>
                      <a:endParaRPr sz="2000"/>
                    </a:p>
                  </a:txBody>
                  <a:tcPr marT="63500" marB="63500" marR="63500" marL="63500" anchor="ctr"/>
                </a:tc>
                <a:tc>
                  <a:txBody>
                    <a:bodyPr/>
                    <a:lstStyle/>
                    <a:p>
                      <a:pPr indent="0" lvl="0" marL="0" rtl="0" algn="ctr">
                        <a:spcBef>
                          <a:spcPts val="0"/>
                        </a:spcBef>
                        <a:spcAft>
                          <a:spcPts val="0"/>
                        </a:spcAft>
                        <a:buNone/>
                      </a:pPr>
                      <a:r>
                        <a:rPr lang="fr-FR" sz="2000"/>
                        <a:t>Utility (poser piège)</a:t>
                      </a:r>
                      <a:endParaRPr sz="2000"/>
                    </a:p>
                  </a:txBody>
                  <a:tcPr marT="63500" marB="63500" marR="63500" marL="63500" anchor="ctr"/>
                </a:tc>
              </a:tr>
              <a:tr h="730425">
                <a:tc>
                  <a:txBody>
                    <a:bodyPr/>
                    <a:lstStyle/>
                    <a:p>
                      <a:pPr indent="0" lvl="0" marL="0" rtl="0" algn="ctr">
                        <a:spcBef>
                          <a:spcPts val="0"/>
                        </a:spcBef>
                        <a:spcAft>
                          <a:spcPts val="0"/>
                        </a:spcAft>
                        <a:buNone/>
                      </a:pPr>
                      <a:r>
                        <a:rPr b="1" lang="fr-FR" sz="2000"/>
                        <a:t>Emma</a:t>
                      </a:r>
                      <a:endParaRPr b="1" sz="2000"/>
                    </a:p>
                  </a:txBody>
                  <a:tcPr marT="63500" marB="63500" marR="63500" marL="63500" anchor="ctr">
                    <a:solidFill>
                      <a:srgbClr val="D9EAD3"/>
                    </a:solidFill>
                  </a:tcPr>
                </a:tc>
                <a:tc>
                  <a:txBody>
                    <a:bodyPr/>
                    <a:lstStyle/>
                    <a:p>
                      <a:pPr indent="0" lvl="0" marL="0" rtl="0" algn="ctr">
                        <a:spcBef>
                          <a:spcPts val="0"/>
                        </a:spcBef>
                        <a:spcAft>
                          <a:spcPts val="0"/>
                        </a:spcAft>
                        <a:buNone/>
                      </a:pPr>
                      <a:r>
                        <a:rPr lang="fr-FR" sz="2000"/>
                        <a:t>Test</a:t>
                      </a:r>
                      <a:endParaRPr sz="2000"/>
                    </a:p>
                  </a:txBody>
                  <a:tcPr marT="63500" marB="63500" marR="63500" marL="63500" anchor="ctr"/>
                </a:tc>
                <a:tc>
                  <a:txBody>
                    <a:bodyPr/>
                    <a:lstStyle/>
                    <a:p>
                      <a:pPr indent="0" lvl="0" marL="0" rtl="0" algn="ctr">
                        <a:spcBef>
                          <a:spcPts val="0"/>
                        </a:spcBef>
                        <a:spcAft>
                          <a:spcPts val="0"/>
                        </a:spcAft>
                        <a:buNone/>
                      </a:pPr>
                      <a:r>
                        <a:rPr lang="fr-FR" sz="2000"/>
                        <a:t>Début BT lapin bot</a:t>
                      </a:r>
                      <a:endParaRPr sz="2000"/>
                    </a:p>
                  </a:txBody>
                  <a:tcPr marT="63500" marB="63500" marR="63500" marL="63500" anchor="ctr"/>
                </a:tc>
                <a:tc>
                  <a:txBody>
                    <a:bodyPr/>
                    <a:lstStyle/>
                    <a:p>
                      <a:pPr indent="0" lvl="0" marL="0" rtl="0" algn="ctr">
                        <a:spcBef>
                          <a:spcPts val="0"/>
                        </a:spcBef>
                        <a:spcAft>
                          <a:spcPts val="0"/>
                        </a:spcAft>
                        <a:buNone/>
                      </a:pPr>
                      <a:r>
                        <a:rPr lang="fr-FR" sz="2000"/>
                        <a:t>suite BT lapin </a:t>
                      </a:r>
                      <a:endParaRPr sz="2000"/>
                    </a:p>
                  </a:txBody>
                  <a:tcPr marT="63500" marB="63500" marR="63500" marL="63500" anchor="ct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93dd43c62b_0_0"/>
          <p:cNvSpPr/>
          <p:nvPr/>
        </p:nvSpPr>
        <p:spPr>
          <a:xfrm>
            <a:off x="-530625" y="5762625"/>
            <a:ext cx="12898200" cy="10953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1" name="Google Shape;341;g393dd43c62b_0_0"/>
          <p:cNvSpPr txBox="1"/>
          <p:nvPr/>
        </p:nvSpPr>
        <p:spPr>
          <a:xfrm>
            <a:off x="282425" y="240425"/>
            <a:ext cx="6044700" cy="61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fr-FR" sz="3400">
                <a:solidFill>
                  <a:schemeClr val="dk1"/>
                </a:solidFill>
              </a:rPr>
              <a:t>Behaviour tree Lapin Bot </a:t>
            </a:r>
            <a:endParaRPr b="1" sz="4200">
              <a:solidFill>
                <a:schemeClr val="dk1"/>
              </a:solidFill>
              <a:latin typeface="Arial"/>
              <a:ea typeface="Arial"/>
              <a:cs typeface="Arial"/>
              <a:sym typeface="Arial"/>
            </a:endParaRPr>
          </a:p>
        </p:txBody>
      </p:sp>
      <p:sp>
        <p:nvSpPr>
          <p:cNvPr id="342" name="Google Shape;342;g393dd43c62b_0_0"/>
          <p:cNvSpPr txBox="1"/>
          <p:nvPr/>
        </p:nvSpPr>
        <p:spPr>
          <a:xfrm>
            <a:off x="11621749" y="6335025"/>
            <a:ext cx="5703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20</a:t>
            </a:r>
            <a:endParaRPr/>
          </a:p>
        </p:txBody>
      </p:sp>
      <p:sp>
        <p:nvSpPr>
          <p:cNvPr id="343" name="Google Shape;343;g393dd43c62b_0_0"/>
          <p:cNvSpPr txBox="1"/>
          <p:nvPr/>
        </p:nvSpPr>
        <p:spPr>
          <a:xfrm>
            <a:off x="370150" y="1232550"/>
            <a:ext cx="8502000" cy="387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Clr>
                <a:schemeClr val="dk1"/>
              </a:buClr>
              <a:buSzPts val="1100"/>
              <a:buFont typeface="Arial"/>
              <a:buNone/>
            </a:pPr>
            <a:r>
              <a:rPr b="1" lang="fr-FR" sz="2600">
                <a:solidFill>
                  <a:schemeClr val="dk1"/>
                </a:solidFill>
              </a:rPr>
              <a:t>Travail réalisé</a:t>
            </a:r>
            <a:endParaRPr b="1" sz="2600">
              <a:solidFill>
                <a:schemeClr val="dk1"/>
              </a:solidFill>
            </a:endParaRPr>
          </a:p>
          <a:p>
            <a:pPr indent="-355600" lvl="0" marL="457200" rtl="0" algn="l">
              <a:lnSpc>
                <a:spcPct val="115000"/>
              </a:lnSpc>
              <a:spcBef>
                <a:spcPts val="1200"/>
              </a:spcBef>
              <a:spcAft>
                <a:spcPts val="0"/>
              </a:spcAft>
              <a:buClr>
                <a:schemeClr val="dk1"/>
              </a:buClr>
              <a:buSzPts val="2000"/>
              <a:buChar char="●"/>
            </a:pPr>
            <a:r>
              <a:rPr lang="fr-FR" sz="2000">
                <a:solidFill>
                  <a:schemeClr val="dk1"/>
                </a:solidFill>
              </a:rPr>
              <a:t>Création d’une nouvelle classe </a:t>
            </a:r>
            <a:r>
              <a:rPr lang="fr-FR" sz="2000">
                <a:solidFill>
                  <a:srgbClr val="188038"/>
                </a:solidFill>
                <a:latin typeface="Roboto Mono"/>
                <a:ea typeface="Roboto Mono"/>
                <a:cs typeface="Roboto Mono"/>
                <a:sym typeface="Roboto Mono"/>
              </a:rPr>
              <a:t>RabbitBotClass</a:t>
            </a:r>
            <a:br>
              <a:rPr lang="fr-FR" sz="2000">
                <a:solidFill>
                  <a:srgbClr val="188038"/>
                </a:solidFill>
                <a:latin typeface="Roboto Mono"/>
                <a:ea typeface="Roboto Mono"/>
                <a:cs typeface="Roboto Mono"/>
                <a:sym typeface="Roboto Mono"/>
              </a:rPr>
            </a:br>
            <a:endParaRPr sz="2000">
              <a:solidFill>
                <a:srgbClr val="188038"/>
              </a:solidFill>
              <a:latin typeface="Roboto Mono"/>
              <a:ea typeface="Roboto Mono"/>
              <a:cs typeface="Roboto Mono"/>
              <a:sym typeface="Roboto Mono"/>
            </a:endParaRPr>
          </a:p>
          <a:p>
            <a:pPr indent="-355600" lvl="0" marL="457200" rtl="0" algn="l">
              <a:lnSpc>
                <a:spcPct val="115000"/>
              </a:lnSpc>
              <a:spcBef>
                <a:spcPts val="0"/>
              </a:spcBef>
              <a:spcAft>
                <a:spcPts val="0"/>
              </a:spcAft>
              <a:buClr>
                <a:schemeClr val="dk1"/>
              </a:buClr>
              <a:buSzPts val="2000"/>
              <a:buChar char="●"/>
            </a:pPr>
            <a:r>
              <a:rPr lang="fr-FR" sz="2000">
                <a:solidFill>
                  <a:schemeClr val="dk1"/>
                </a:solidFill>
              </a:rPr>
              <a:t>Refactorisation des Nodes existants</a:t>
            </a:r>
            <a:br>
              <a:rPr lang="fr-FR"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fr-FR" sz="2000">
                <a:solidFill>
                  <a:schemeClr val="dk1"/>
                </a:solidFill>
              </a:rPr>
              <a:t>Initialisation du Behavior Tree</a:t>
            </a:r>
            <a:br>
              <a:rPr lang="fr-FR"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fr-FR" sz="2000">
                <a:solidFill>
                  <a:schemeClr val="dk1"/>
                </a:solidFill>
              </a:rPr>
              <a:t>Reprise des mécaniques côté IA</a:t>
            </a:r>
            <a:endParaRPr sz="2000">
              <a:solidFill>
                <a:schemeClr val="dk1"/>
              </a:solidFill>
            </a:endParaRPr>
          </a:p>
          <a:p>
            <a:pPr indent="0" lvl="0" marL="0" rtl="0" algn="l">
              <a:spcBef>
                <a:spcPts val="1200"/>
              </a:spcBef>
              <a:spcAft>
                <a:spcPts val="0"/>
              </a:spcAft>
              <a:buNone/>
            </a:pPr>
            <a:r>
              <a:t/>
            </a:r>
            <a:endParaRPr sz="2900">
              <a:solidFill>
                <a:schemeClr val="dk1"/>
              </a:solidFill>
            </a:endParaRPr>
          </a:p>
        </p:txBody>
      </p:sp>
      <p:sp>
        <p:nvSpPr>
          <p:cNvPr id="344" name="Google Shape;344;g393dd43c62b_0_0"/>
          <p:cNvSpPr txBox="1"/>
          <p:nvPr/>
        </p:nvSpPr>
        <p:spPr>
          <a:xfrm>
            <a:off x="6759350" y="1232550"/>
            <a:ext cx="5251800" cy="372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fr-FR" sz="2600">
                <a:solidFill>
                  <a:schemeClr val="dk1"/>
                </a:solidFill>
              </a:rPr>
              <a:t>Complexité rencontrée</a:t>
            </a:r>
            <a:endParaRPr b="1" sz="2600">
              <a:solidFill>
                <a:schemeClr val="dk1"/>
              </a:solidFill>
            </a:endParaRPr>
          </a:p>
          <a:p>
            <a:pPr indent="-355600" lvl="0" marL="457200" rtl="0" algn="l">
              <a:lnSpc>
                <a:spcPct val="115000"/>
              </a:lnSpc>
              <a:spcBef>
                <a:spcPts val="1200"/>
              </a:spcBef>
              <a:spcAft>
                <a:spcPts val="0"/>
              </a:spcAft>
              <a:buClr>
                <a:schemeClr val="dk1"/>
              </a:buClr>
              <a:buSzPts val="2000"/>
              <a:buChar char="●"/>
            </a:pPr>
            <a:r>
              <a:rPr lang="fr-FR" sz="2000">
                <a:solidFill>
                  <a:schemeClr val="dk1"/>
                </a:solidFill>
              </a:rPr>
              <a:t>Refactorisation plus large que prévue</a:t>
            </a:r>
            <a:br>
              <a:rPr lang="fr-FR"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fr-FR" sz="2000">
                <a:solidFill>
                  <a:schemeClr val="dk1"/>
                </a:solidFill>
              </a:rPr>
              <a:t>Ajustements nécessaires sur les transitions d’état</a:t>
            </a:r>
            <a:br>
              <a:rPr lang="fr-FR"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fr-FR" sz="2000">
                <a:solidFill>
                  <a:schemeClr val="dk1"/>
                </a:solidFill>
              </a:rPr>
              <a:t>Stabilisation prioritaire avant ajout de nouvelles mécaniques</a:t>
            </a:r>
            <a:endParaRPr sz="2000">
              <a:solidFill>
                <a:schemeClr val="dk1"/>
              </a:solidFill>
            </a:endParaRPr>
          </a:p>
          <a:p>
            <a:pPr indent="0" lvl="0" marL="0" rtl="0" algn="l">
              <a:spcBef>
                <a:spcPts val="1200"/>
              </a:spcBef>
              <a:spcAft>
                <a:spcPts val="0"/>
              </a:spcAft>
              <a:buNone/>
            </a:pPr>
            <a:r>
              <a:t/>
            </a:r>
            <a:endParaRPr sz="37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3c7962d81b2_3_74"/>
          <p:cNvSpPr/>
          <p:nvPr/>
        </p:nvSpPr>
        <p:spPr>
          <a:xfrm>
            <a:off x="-530625" y="5762625"/>
            <a:ext cx="12898200" cy="10953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1" name="Google Shape;351;g3c7962d81b2_3_74"/>
          <p:cNvSpPr txBox="1"/>
          <p:nvPr/>
        </p:nvSpPr>
        <p:spPr>
          <a:xfrm>
            <a:off x="341450" y="535650"/>
            <a:ext cx="10163100" cy="61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fr-FR" sz="3400">
                <a:solidFill>
                  <a:schemeClr val="dk1"/>
                </a:solidFill>
              </a:rPr>
              <a:t>Itération V</a:t>
            </a:r>
            <a:endParaRPr b="1" sz="4200">
              <a:solidFill>
                <a:schemeClr val="dk1"/>
              </a:solidFill>
              <a:latin typeface="Arial"/>
              <a:ea typeface="Arial"/>
              <a:cs typeface="Arial"/>
              <a:sym typeface="Arial"/>
            </a:endParaRPr>
          </a:p>
        </p:txBody>
      </p:sp>
      <p:sp>
        <p:nvSpPr>
          <p:cNvPr id="352" name="Google Shape;352;g3c7962d81b2_3_74"/>
          <p:cNvSpPr txBox="1"/>
          <p:nvPr/>
        </p:nvSpPr>
        <p:spPr>
          <a:xfrm>
            <a:off x="11621749" y="6335025"/>
            <a:ext cx="5703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23</a:t>
            </a:r>
            <a:endParaRPr/>
          </a:p>
        </p:txBody>
      </p:sp>
      <p:sp>
        <p:nvSpPr>
          <p:cNvPr id="353" name="Google Shape;353;g3c7962d81b2_3_74"/>
          <p:cNvSpPr txBox="1"/>
          <p:nvPr/>
        </p:nvSpPr>
        <p:spPr>
          <a:xfrm>
            <a:off x="586000" y="1049200"/>
            <a:ext cx="11156100" cy="615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fr-FR" sz="2800">
                <a:solidFill>
                  <a:schemeClr val="dk1"/>
                </a:solidFill>
              </a:rPr>
              <a:t>Primaire : </a:t>
            </a:r>
            <a:endParaRPr sz="2800">
              <a:solidFill>
                <a:schemeClr val="dk1"/>
              </a:solidFill>
            </a:endParaRPr>
          </a:p>
          <a:p>
            <a:pPr indent="-406400" lvl="0" marL="457200" rtl="0" algn="l">
              <a:lnSpc>
                <a:spcPct val="115000"/>
              </a:lnSpc>
              <a:spcBef>
                <a:spcPts val="1800"/>
              </a:spcBef>
              <a:spcAft>
                <a:spcPts val="0"/>
              </a:spcAft>
              <a:buClr>
                <a:schemeClr val="dk1"/>
              </a:buClr>
              <a:buSzPts val="2800"/>
              <a:buChar char="-"/>
            </a:pPr>
            <a:r>
              <a:rPr lang="fr-FR" sz="2800">
                <a:solidFill>
                  <a:schemeClr val="dk1"/>
                </a:solidFill>
              </a:rPr>
              <a:t>Utility (Ravitaillement, Poursuite, Patrouille)</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Map (Bordure Map)</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Bot Lapin</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Course Chasseur</a:t>
            </a:r>
            <a:endParaRPr sz="2800">
              <a:solidFill>
                <a:schemeClr val="dk1"/>
              </a:solidFill>
            </a:endParaRPr>
          </a:p>
          <a:p>
            <a:pPr indent="0" lvl="0" marL="0" rtl="0" algn="l">
              <a:lnSpc>
                <a:spcPct val="115000"/>
              </a:lnSpc>
              <a:spcBef>
                <a:spcPts val="1800"/>
              </a:spcBef>
              <a:spcAft>
                <a:spcPts val="0"/>
              </a:spcAft>
              <a:buNone/>
            </a:pPr>
            <a:r>
              <a:rPr lang="fr-FR" sz="2800">
                <a:solidFill>
                  <a:schemeClr val="dk1"/>
                </a:solidFill>
              </a:rPr>
              <a:t>Secondaire</a:t>
            </a:r>
            <a:endParaRPr sz="2800">
              <a:solidFill>
                <a:schemeClr val="dk1"/>
              </a:solidFill>
            </a:endParaRPr>
          </a:p>
          <a:p>
            <a:pPr indent="-406400" lvl="0" marL="457200" rtl="0" algn="l">
              <a:lnSpc>
                <a:spcPct val="115000"/>
              </a:lnSpc>
              <a:spcBef>
                <a:spcPts val="1800"/>
              </a:spcBef>
              <a:spcAft>
                <a:spcPts val="0"/>
              </a:spcAft>
              <a:buClr>
                <a:schemeClr val="dk1"/>
              </a:buClr>
              <a:buSzPts val="2800"/>
              <a:buChar char="-"/>
            </a:pPr>
            <a:r>
              <a:rPr lang="fr-FR" sz="2800">
                <a:solidFill>
                  <a:schemeClr val="dk1"/>
                </a:solidFill>
              </a:rPr>
              <a:t>Gérer plusieurs lapins (Vision chasseur)</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fr-FR" sz="2800">
                <a:solidFill>
                  <a:schemeClr val="dk1"/>
                </a:solidFill>
              </a:rPr>
              <a:t>Détection Bruit/Trace</a:t>
            </a:r>
            <a:endParaRPr sz="2800">
              <a:solidFill>
                <a:schemeClr val="dk1"/>
              </a:solidFill>
            </a:endParaRPr>
          </a:p>
          <a:p>
            <a:pPr indent="0" lvl="0" marL="0" rtl="0" algn="l">
              <a:lnSpc>
                <a:spcPct val="115000"/>
              </a:lnSpc>
              <a:spcBef>
                <a:spcPts val="1800"/>
              </a:spcBef>
              <a:spcAft>
                <a:spcPts val="0"/>
              </a:spcAft>
              <a:buNone/>
            </a:pPr>
            <a:r>
              <a:t/>
            </a:r>
            <a:endParaRPr sz="2800">
              <a:solidFill>
                <a:schemeClr val="dk1"/>
              </a:solidFill>
            </a:endParaRPr>
          </a:p>
          <a:p>
            <a:pPr indent="0" lvl="0" marL="457200" rtl="0" algn="l">
              <a:lnSpc>
                <a:spcPct val="115000"/>
              </a:lnSpc>
              <a:spcBef>
                <a:spcPts val="1200"/>
              </a:spcBef>
              <a:spcAft>
                <a:spcPts val="1200"/>
              </a:spcAft>
              <a:buNone/>
            </a:pPr>
            <a:r>
              <a:t/>
            </a:r>
            <a:endParaRPr sz="28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13"/>
          <p:cNvSpPr/>
          <p:nvPr/>
        </p:nvSpPr>
        <p:spPr>
          <a:xfrm>
            <a:off x="7568661" y="3832664"/>
            <a:ext cx="672860" cy="3467819"/>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0" name="Google Shape;360;p13"/>
          <p:cNvSpPr/>
          <p:nvPr/>
        </p:nvSpPr>
        <p:spPr>
          <a:xfrm>
            <a:off x="5951207" y="2719857"/>
            <a:ext cx="3907766" cy="1440612"/>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1" name="Google Shape;361;p13"/>
          <p:cNvSpPr/>
          <p:nvPr/>
        </p:nvSpPr>
        <p:spPr>
          <a:xfrm>
            <a:off x="6344249" y="1736445"/>
            <a:ext cx="3121683" cy="1311217"/>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2" name="Google Shape;362;p13"/>
          <p:cNvSpPr/>
          <p:nvPr/>
        </p:nvSpPr>
        <p:spPr>
          <a:xfrm>
            <a:off x="9198031" y="-127068"/>
            <a:ext cx="672860" cy="6493911"/>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3" name="Google Shape;363;p13"/>
          <p:cNvSpPr/>
          <p:nvPr/>
        </p:nvSpPr>
        <p:spPr>
          <a:xfrm>
            <a:off x="7580578" y="-1439721"/>
            <a:ext cx="3907766" cy="1746847"/>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4" name="Google Shape;364;p13"/>
          <p:cNvSpPr/>
          <p:nvPr/>
        </p:nvSpPr>
        <p:spPr>
          <a:xfrm>
            <a:off x="10956055" y="1014108"/>
            <a:ext cx="672860" cy="5483524"/>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5" name="Google Shape;365;p13"/>
          <p:cNvSpPr/>
          <p:nvPr/>
        </p:nvSpPr>
        <p:spPr>
          <a:xfrm>
            <a:off x="9338601" y="3256975"/>
            <a:ext cx="3907766" cy="842514"/>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6" name="Google Shape;366;p13"/>
          <p:cNvSpPr/>
          <p:nvPr/>
        </p:nvSpPr>
        <p:spPr>
          <a:xfrm>
            <a:off x="9711650" y="1208202"/>
            <a:ext cx="3121683" cy="842514"/>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7" name="Google Shape;367;p13"/>
          <p:cNvSpPr/>
          <p:nvPr/>
        </p:nvSpPr>
        <p:spPr>
          <a:xfrm>
            <a:off x="9499178" y="2244810"/>
            <a:ext cx="3586612" cy="842514"/>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8" name="Google Shape;368;p13"/>
          <p:cNvSpPr/>
          <p:nvPr/>
        </p:nvSpPr>
        <p:spPr>
          <a:xfrm>
            <a:off x="10107589" y="453390"/>
            <a:ext cx="2369790" cy="560718"/>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9" name="Google Shape;369;p13"/>
          <p:cNvSpPr/>
          <p:nvPr/>
        </p:nvSpPr>
        <p:spPr>
          <a:xfrm>
            <a:off x="-1733549" y="5762626"/>
            <a:ext cx="15986578" cy="1606488"/>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Lapin avec un remplissage uni" id="370" name="Google Shape;370;p13"/>
          <p:cNvPicPr preferRelativeResize="0"/>
          <p:nvPr/>
        </p:nvPicPr>
        <p:blipFill rotWithShape="1">
          <a:blip r:embed="rId3">
            <a:alphaModFix/>
          </a:blip>
          <a:srcRect b="0" l="0" r="0" t="0"/>
          <a:stretch/>
        </p:blipFill>
        <p:spPr>
          <a:xfrm flipH="1">
            <a:off x="6000789" y="4589231"/>
            <a:ext cx="1397380" cy="1397380"/>
          </a:xfrm>
          <a:prstGeom prst="rect">
            <a:avLst/>
          </a:prstGeom>
          <a:noFill/>
          <a:ln>
            <a:noFill/>
          </a:ln>
        </p:spPr>
      </p:pic>
      <p:sp>
        <p:nvSpPr>
          <p:cNvPr id="371" name="Google Shape;371;p13"/>
          <p:cNvSpPr txBox="1"/>
          <p:nvPr/>
        </p:nvSpPr>
        <p:spPr>
          <a:xfrm>
            <a:off x="202075" y="225100"/>
            <a:ext cx="39078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4000">
                <a:solidFill>
                  <a:schemeClr val="dk1"/>
                </a:solidFill>
                <a:latin typeface="Arial"/>
                <a:ea typeface="Arial"/>
                <a:cs typeface="Arial"/>
                <a:sym typeface="Arial"/>
              </a:rPr>
              <a:t>Conclusion</a:t>
            </a:r>
            <a:endParaRPr b="1" sz="4400">
              <a:solidFill>
                <a:schemeClr val="dk1"/>
              </a:solidFill>
              <a:latin typeface="Arial"/>
              <a:ea typeface="Arial"/>
              <a:cs typeface="Arial"/>
              <a:sym typeface="Arial"/>
            </a:endParaRPr>
          </a:p>
        </p:txBody>
      </p:sp>
      <p:pic>
        <p:nvPicPr>
          <p:cNvPr descr="Rose avec un remplissage uni" id="372" name="Google Shape;372;p13"/>
          <p:cNvPicPr preferRelativeResize="0"/>
          <p:nvPr/>
        </p:nvPicPr>
        <p:blipFill rotWithShape="1">
          <a:blip r:embed="rId4">
            <a:alphaModFix/>
          </a:blip>
          <a:srcRect b="0" l="0" r="0" t="0"/>
          <a:stretch/>
        </p:blipFill>
        <p:spPr>
          <a:xfrm>
            <a:off x="11427395" y="4962788"/>
            <a:ext cx="914400" cy="914400"/>
          </a:xfrm>
          <a:prstGeom prst="rect">
            <a:avLst/>
          </a:prstGeom>
          <a:noFill/>
          <a:ln>
            <a:noFill/>
          </a:ln>
        </p:spPr>
      </p:pic>
      <p:sp>
        <p:nvSpPr>
          <p:cNvPr id="373" name="Google Shape;373;p13"/>
          <p:cNvSpPr txBox="1"/>
          <p:nvPr/>
        </p:nvSpPr>
        <p:spPr>
          <a:xfrm>
            <a:off x="202076" y="1641425"/>
            <a:ext cx="5516400" cy="471000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Char char="-"/>
            </a:pPr>
            <a:r>
              <a:rPr lang="fr-FR" sz="2800">
                <a:solidFill>
                  <a:schemeClr val="dk1"/>
                </a:solidFill>
              </a:rPr>
              <a:t>Bonnes fonctions d’utility pour Recharge</a:t>
            </a:r>
            <a:r>
              <a:rPr lang="fr-FR" sz="2800">
                <a:solidFill>
                  <a:schemeClr val="dk1"/>
                </a:solidFill>
              </a:rPr>
              <a:t>/</a:t>
            </a:r>
            <a:r>
              <a:rPr lang="fr-FR" sz="2800">
                <a:solidFill>
                  <a:schemeClr val="dk1"/>
                </a:solidFill>
              </a:rPr>
              <a:t>Tir</a:t>
            </a:r>
            <a:r>
              <a:rPr lang="fr-FR" sz="2800">
                <a:solidFill>
                  <a:schemeClr val="dk1"/>
                </a:solidFill>
              </a:rPr>
              <a:t>/</a:t>
            </a:r>
            <a:r>
              <a:rPr lang="fr-FR" sz="2800">
                <a:solidFill>
                  <a:schemeClr val="dk1"/>
                </a:solidFill>
              </a:rPr>
              <a:t>Piège</a:t>
            </a:r>
            <a:endParaRPr sz="2800">
              <a:solidFill>
                <a:schemeClr val="dk1"/>
              </a:solidFill>
            </a:endParaRPr>
          </a:p>
          <a:p>
            <a:pPr indent="0" lvl="0" marL="457200" marR="0" rtl="0" algn="l">
              <a:spcBef>
                <a:spcPts val="0"/>
              </a:spcBef>
              <a:spcAft>
                <a:spcPts val="0"/>
              </a:spcAft>
              <a:buNone/>
            </a:pPr>
            <a:r>
              <a:t/>
            </a:r>
            <a:endParaRPr sz="2800">
              <a:solidFill>
                <a:schemeClr val="dk1"/>
              </a:solidFill>
            </a:endParaRPr>
          </a:p>
          <a:p>
            <a:pPr indent="-457200" lvl="0" marL="457200" marR="0" rtl="0" algn="l">
              <a:spcBef>
                <a:spcPts val="0"/>
              </a:spcBef>
              <a:spcAft>
                <a:spcPts val="0"/>
              </a:spcAft>
              <a:buClr>
                <a:schemeClr val="dk1"/>
              </a:buClr>
              <a:buSzPts val="2800"/>
              <a:buChar char="-"/>
            </a:pPr>
            <a:r>
              <a:rPr lang="fr-FR" sz="2800">
                <a:solidFill>
                  <a:schemeClr val="dk1"/>
                </a:solidFill>
              </a:rPr>
              <a:t>Multijoueur 100% fonctionnel</a:t>
            </a:r>
            <a:endParaRPr sz="2800">
              <a:solidFill>
                <a:schemeClr val="dk1"/>
              </a:solidFill>
            </a:endParaRPr>
          </a:p>
          <a:p>
            <a:pPr indent="0" lvl="0" marL="0" marR="0" rtl="0" algn="l">
              <a:spcBef>
                <a:spcPts val="0"/>
              </a:spcBef>
              <a:spcAft>
                <a:spcPts val="0"/>
              </a:spcAft>
              <a:buNone/>
            </a:pPr>
            <a:r>
              <a:t/>
            </a:r>
            <a:endParaRPr sz="2800">
              <a:solidFill>
                <a:schemeClr val="dk1"/>
              </a:solidFill>
            </a:endParaRPr>
          </a:p>
          <a:p>
            <a:pPr indent="-406400" lvl="0" marL="457200" marR="0" rtl="0" algn="l">
              <a:spcBef>
                <a:spcPts val="0"/>
              </a:spcBef>
              <a:spcAft>
                <a:spcPts val="0"/>
              </a:spcAft>
              <a:buClr>
                <a:schemeClr val="dk1"/>
              </a:buClr>
              <a:buSzPts val="2800"/>
              <a:buChar char="-"/>
            </a:pPr>
            <a:r>
              <a:rPr lang="fr-FR" sz="2800">
                <a:solidFill>
                  <a:schemeClr val="dk1"/>
                </a:solidFill>
              </a:rPr>
              <a:t>Terrier, Buisson </a:t>
            </a:r>
            <a:endParaRPr sz="2800">
              <a:solidFill>
                <a:schemeClr val="dk1"/>
              </a:solidFill>
            </a:endParaRPr>
          </a:p>
          <a:p>
            <a:pPr indent="0" lvl="0" marL="0" marR="0" rtl="0" algn="l">
              <a:spcBef>
                <a:spcPts val="0"/>
              </a:spcBef>
              <a:spcAft>
                <a:spcPts val="0"/>
              </a:spcAft>
              <a:buNone/>
            </a:pPr>
            <a:r>
              <a:t/>
            </a:r>
            <a:endParaRPr sz="2800">
              <a:solidFill>
                <a:schemeClr val="dk1"/>
              </a:solidFill>
            </a:endParaRPr>
          </a:p>
          <a:p>
            <a:pPr indent="-406400" lvl="0" marL="457200" marR="0" rtl="0" algn="l">
              <a:spcBef>
                <a:spcPts val="0"/>
              </a:spcBef>
              <a:spcAft>
                <a:spcPts val="0"/>
              </a:spcAft>
              <a:buClr>
                <a:schemeClr val="dk1"/>
              </a:buClr>
              <a:buSzPts val="2800"/>
              <a:buChar char="-"/>
            </a:pPr>
            <a:r>
              <a:rPr lang="fr-FR" sz="2800">
                <a:solidFill>
                  <a:schemeClr val="dk1"/>
                </a:solidFill>
              </a:rPr>
              <a:t>Tests opérationnels</a:t>
            </a:r>
            <a:endParaRPr sz="2800">
              <a:solidFill>
                <a:schemeClr val="dk1"/>
              </a:solidFill>
            </a:endParaRPr>
          </a:p>
          <a:p>
            <a:pPr indent="-190500" lvl="0" marL="342900" marR="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304800" lvl="0" marL="457200" marR="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279400" lvl="0" marL="457200" marR="0" rtl="0" algn="l">
              <a:spcBef>
                <a:spcPts val="0"/>
              </a:spcBef>
              <a:spcAft>
                <a:spcPts val="0"/>
              </a:spcAft>
              <a:buClr>
                <a:schemeClr val="dk1"/>
              </a:buClr>
              <a:buSzPts val="2800"/>
              <a:buFont typeface="Calibri"/>
              <a:buNone/>
            </a:pPr>
            <a:r>
              <a:t/>
            </a:r>
            <a:endParaRPr sz="2800">
              <a:solidFill>
                <a:schemeClr val="dk1"/>
              </a:solidFill>
              <a:latin typeface="Arial"/>
              <a:ea typeface="Arial"/>
              <a:cs typeface="Arial"/>
              <a:sym typeface="Arial"/>
            </a:endParaRPr>
          </a:p>
        </p:txBody>
      </p:sp>
      <p:sp>
        <p:nvSpPr>
          <p:cNvPr id="374" name="Google Shape;374;p13"/>
          <p:cNvSpPr txBox="1"/>
          <p:nvPr/>
        </p:nvSpPr>
        <p:spPr>
          <a:xfrm>
            <a:off x="11621749" y="6335025"/>
            <a:ext cx="5703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24</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c93084ca21_0_16"/>
          <p:cNvSpPr/>
          <p:nvPr/>
        </p:nvSpPr>
        <p:spPr>
          <a:xfrm>
            <a:off x="7568661" y="3832664"/>
            <a:ext cx="672900" cy="3467700"/>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1" name="Google Shape;381;g3c93084ca21_0_16"/>
          <p:cNvSpPr/>
          <p:nvPr/>
        </p:nvSpPr>
        <p:spPr>
          <a:xfrm>
            <a:off x="5951207" y="2719857"/>
            <a:ext cx="3907800" cy="14406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2" name="Google Shape;382;g3c93084ca21_0_16"/>
          <p:cNvSpPr/>
          <p:nvPr/>
        </p:nvSpPr>
        <p:spPr>
          <a:xfrm>
            <a:off x="6344249" y="1736445"/>
            <a:ext cx="3121800" cy="13113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3" name="Google Shape;383;g3c93084ca21_0_16"/>
          <p:cNvSpPr/>
          <p:nvPr/>
        </p:nvSpPr>
        <p:spPr>
          <a:xfrm>
            <a:off x="9198031" y="-127068"/>
            <a:ext cx="672900" cy="6493800"/>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4" name="Google Shape;384;g3c93084ca21_0_16"/>
          <p:cNvSpPr/>
          <p:nvPr/>
        </p:nvSpPr>
        <p:spPr>
          <a:xfrm>
            <a:off x="7580578" y="-1439721"/>
            <a:ext cx="3907800" cy="17469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5" name="Google Shape;385;g3c93084ca21_0_16"/>
          <p:cNvSpPr/>
          <p:nvPr/>
        </p:nvSpPr>
        <p:spPr>
          <a:xfrm>
            <a:off x="10956055" y="1014108"/>
            <a:ext cx="672900" cy="5483400"/>
          </a:xfrm>
          <a:prstGeom prst="rect">
            <a:avLst/>
          </a:prstGeom>
          <a:solidFill>
            <a:srgbClr val="AB57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6" name="Google Shape;386;g3c93084ca21_0_16"/>
          <p:cNvSpPr/>
          <p:nvPr/>
        </p:nvSpPr>
        <p:spPr>
          <a:xfrm>
            <a:off x="9338601" y="3256975"/>
            <a:ext cx="3907800" cy="8424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7" name="Google Shape;387;g3c93084ca21_0_16"/>
          <p:cNvSpPr/>
          <p:nvPr/>
        </p:nvSpPr>
        <p:spPr>
          <a:xfrm>
            <a:off x="9711650" y="1208202"/>
            <a:ext cx="3121800" cy="8424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8" name="Google Shape;388;g3c93084ca21_0_16"/>
          <p:cNvSpPr/>
          <p:nvPr/>
        </p:nvSpPr>
        <p:spPr>
          <a:xfrm>
            <a:off x="9499178" y="2244810"/>
            <a:ext cx="3586500" cy="8424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9" name="Google Shape;389;g3c93084ca21_0_16"/>
          <p:cNvSpPr/>
          <p:nvPr/>
        </p:nvSpPr>
        <p:spPr>
          <a:xfrm>
            <a:off x="10107589" y="453390"/>
            <a:ext cx="2369700" cy="560700"/>
          </a:xfrm>
          <a:prstGeom prst="rect">
            <a:avLst/>
          </a:pr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0" name="Google Shape;390;g3c93084ca21_0_16"/>
          <p:cNvSpPr/>
          <p:nvPr/>
        </p:nvSpPr>
        <p:spPr>
          <a:xfrm>
            <a:off x="-1733549" y="5762626"/>
            <a:ext cx="15986700" cy="16065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Lapin avec un remplissage uni" id="391" name="Google Shape;391;g3c93084ca21_0_16"/>
          <p:cNvPicPr preferRelativeResize="0"/>
          <p:nvPr/>
        </p:nvPicPr>
        <p:blipFill rotWithShape="1">
          <a:blip r:embed="rId3">
            <a:alphaModFix/>
          </a:blip>
          <a:srcRect b="0" l="0" r="0" t="0"/>
          <a:stretch/>
        </p:blipFill>
        <p:spPr>
          <a:xfrm flipH="1">
            <a:off x="6000789" y="4589231"/>
            <a:ext cx="1397380" cy="1397380"/>
          </a:xfrm>
          <a:prstGeom prst="rect">
            <a:avLst/>
          </a:prstGeom>
          <a:noFill/>
          <a:ln>
            <a:noFill/>
          </a:ln>
        </p:spPr>
      </p:pic>
      <p:sp>
        <p:nvSpPr>
          <p:cNvPr id="392" name="Google Shape;392;g3c93084ca21_0_16"/>
          <p:cNvSpPr txBox="1"/>
          <p:nvPr/>
        </p:nvSpPr>
        <p:spPr>
          <a:xfrm>
            <a:off x="1408675" y="2150075"/>
            <a:ext cx="39078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2000">
                <a:solidFill>
                  <a:schemeClr val="dk1"/>
                </a:solidFill>
              </a:rPr>
              <a:t>Test</a:t>
            </a:r>
            <a:endParaRPr b="1" sz="12000">
              <a:solidFill>
                <a:schemeClr val="dk1"/>
              </a:solidFill>
              <a:latin typeface="Arial"/>
              <a:ea typeface="Arial"/>
              <a:cs typeface="Arial"/>
              <a:sym typeface="Arial"/>
            </a:endParaRPr>
          </a:p>
        </p:txBody>
      </p:sp>
      <p:pic>
        <p:nvPicPr>
          <p:cNvPr descr="Rose avec un remplissage uni" id="393" name="Google Shape;393;g3c93084ca21_0_16"/>
          <p:cNvPicPr preferRelativeResize="0"/>
          <p:nvPr/>
        </p:nvPicPr>
        <p:blipFill rotWithShape="1">
          <a:blip r:embed="rId4">
            <a:alphaModFix/>
          </a:blip>
          <a:srcRect b="0" l="0" r="0" t="0"/>
          <a:stretch/>
        </p:blipFill>
        <p:spPr>
          <a:xfrm>
            <a:off x="11449695" y="4933263"/>
            <a:ext cx="914400" cy="914400"/>
          </a:xfrm>
          <a:prstGeom prst="rect">
            <a:avLst/>
          </a:prstGeom>
          <a:noFill/>
          <a:ln>
            <a:noFill/>
          </a:ln>
        </p:spPr>
      </p:pic>
      <p:pic>
        <p:nvPicPr>
          <p:cNvPr descr="Hippopotame avec un remplissage uni" id="394" name="Google Shape;394;g3c93084ca21_0_16"/>
          <p:cNvPicPr preferRelativeResize="0"/>
          <p:nvPr/>
        </p:nvPicPr>
        <p:blipFill rotWithShape="1">
          <a:blip r:embed="rId5">
            <a:alphaModFix/>
          </a:blip>
          <a:srcRect b="0" l="0" r="0" t="0"/>
          <a:stretch/>
        </p:blipFill>
        <p:spPr>
          <a:xfrm>
            <a:off x="116008" y="5072211"/>
            <a:ext cx="914400" cy="914400"/>
          </a:xfrm>
          <a:prstGeom prst="rect">
            <a:avLst/>
          </a:prstGeom>
          <a:noFill/>
          <a:ln>
            <a:noFill/>
          </a:ln>
        </p:spPr>
      </p:pic>
      <p:sp>
        <p:nvSpPr>
          <p:cNvPr id="395" name="Google Shape;395;g3c93084ca21_0_16"/>
          <p:cNvSpPr txBox="1"/>
          <p:nvPr/>
        </p:nvSpPr>
        <p:spPr>
          <a:xfrm>
            <a:off x="11621749" y="6335025"/>
            <a:ext cx="570300" cy="461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400">
                <a:solidFill>
                  <a:schemeClr val="dk1"/>
                </a:solidFill>
              </a:rPr>
              <a:t>24</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2025-11-06T07:06:41Z</dcterms:created>
  <dc:creator>Hugo Rochedreux</dc:creator>
</cp:coreProperties>
</file>